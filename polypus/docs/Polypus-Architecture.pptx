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F766E"/>
          </a:solidFill>
          <a:ln/>
        </p:spPr>
      </p:sp>
      <p:sp>
        <p:nvSpPr>
          <p:cNvPr id="3" name="Text 1"/>
          <p:cNvSpPr/>
          <p:nvPr/>
        </p:nvSpPr>
        <p:spPr>
          <a:xfrm>
            <a:off x="914400" y="960120"/>
            <a:ext cx="7315200" cy="274320"/>
          </a:xfrm>
          <a:prstGeom prst="rect">
            <a:avLst/>
          </a:prstGeom>
          <a:noFill/>
          <a:ln/>
        </p:spPr>
        <p:txBody>
          <a:bodyPr wrap="square" rtlCol="0" anchor="ctr"/>
          <a:lstStyle/>
          <a:p>
            <a:pPr indent="0" marL="0">
              <a:buNone/>
            </a:pPr>
            <a:r>
              <a:rPr lang="en-US" sz="1100" b="1" spc="240" kern="0" dirty="0">
                <a:solidFill>
                  <a:srgbClr val="14B8A6"/>
                </a:solidFill>
                <a:latin typeface="Segoe UI" pitchFamily="34" charset="0"/>
                <a:ea typeface="Segoe UI" pitchFamily="34" charset="-122"/>
                <a:cs typeface="Segoe UI" pitchFamily="34" charset="-120"/>
              </a:rPr>
              <a:t>ARCHITECTURE</a:t>
            </a:r>
            <a:endParaRPr lang="en-US" sz="1100" dirty="0"/>
          </a:p>
        </p:txBody>
      </p:sp>
      <p:sp>
        <p:nvSpPr>
          <p:cNvPr id="4" name="Text 2"/>
          <p:cNvSpPr/>
          <p:nvPr/>
        </p:nvSpPr>
        <p:spPr>
          <a:xfrm>
            <a:off x="914400" y="1280160"/>
            <a:ext cx="7315200" cy="914400"/>
          </a:xfrm>
          <a:prstGeom prst="rect">
            <a:avLst/>
          </a:prstGeom>
          <a:noFill/>
          <a:ln/>
        </p:spPr>
        <p:txBody>
          <a:bodyPr wrap="square" rtlCol="0" anchor="ctr"/>
          <a:lstStyle/>
          <a:p>
            <a:pPr indent="0" marL="0">
              <a:buNone/>
            </a:pPr>
            <a:r>
              <a:rPr lang="en-US" sz="5400" dirty="0">
                <a:solidFill>
                  <a:srgbClr val="FFFFFF"/>
                </a:solidFill>
                <a:latin typeface="Georgia" pitchFamily="34" charset="0"/>
                <a:ea typeface="Georgia" pitchFamily="34" charset="-122"/>
                <a:cs typeface="Georgia" pitchFamily="34" charset="-120"/>
              </a:rPr>
              <a:t>Polypus</a:t>
            </a:r>
            <a:endParaRPr lang="en-US" sz="5400" dirty="0"/>
          </a:p>
        </p:txBody>
      </p:sp>
      <p:sp>
        <p:nvSpPr>
          <p:cNvPr id="5" name="Text 3"/>
          <p:cNvSpPr/>
          <p:nvPr/>
        </p:nvSpPr>
        <p:spPr>
          <a:xfrm>
            <a:off x="914400" y="2212848"/>
            <a:ext cx="7498080" cy="384048"/>
          </a:xfrm>
          <a:prstGeom prst="rect">
            <a:avLst/>
          </a:prstGeom>
          <a:noFill/>
          <a:ln/>
        </p:spPr>
        <p:txBody>
          <a:bodyPr wrap="square" rtlCol="0" anchor="ctr"/>
          <a:lstStyle/>
          <a:p>
            <a:pPr indent="0" marL="0">
              <a:buNone/>
            </a:pPr>
            <a:r>
              <a:rPr lang="en-US" sz="1500" dirty="0">
                <a:solidFill>
                  <a:srgbClr val="14B8A6"/>
                </a:solidFill>
                <a:latin typeface="Segoe UI" pitchFamily="34" charset="0"/>
                <a:ea typeface="Segoe UI" pitchFamily="34" charset="-122"/>
                <a:cs typeface="Segoe UI" pitchFamily="34" charset="-120"/>
              </a:rPr>
              <a:t>Intelligent document processing and controlled SAP automation</a:t>
            </a:r>
            <a:endParaRPr lang="en-US" sz="1500" dirty="0"/>
          </a:p>
        </p:txBody>
      </p:sp>
      <p:sp>
        <p:nvSpPr>
          <p:cNvPr id="6" name="Text 4"/>
          <p:cNvSpPr/>
          <p:nvPr/>
        </p:nvSpPr>
        <p:spPr>
          <a:xfrm>
            <a:off x="914400" y="2670048"/>
            <a:ext cx="6949440" cy="548640"/>
          </a:xfrm>
          <a:prstGeom prst="rect">
            <a:avLst/>
          </a:prstGeom>
          <a:noFill/>
          <a:ln/>
        </p:spPr>
        <p:txBody>
          <a:bodyPr wrap="square" rtlCol="0" anchor="ctr"/>
          <a:lstStyle/>
          <a:p>
            <a:pPr indent="0" marL="0">
              <a:lnSpc>
                <a:spcPct val="120000"/>
              </a:lnSpc>
              <a:buNone/>
            </a:pPr>
            <a:r>
              <a:rPr lang="en-US" sz="1150" dirty="0">
                <a:solidFill>
                  <a:srgbClr val="AEB6C2"/>
                </a:solidFill>
                <a:latin typeface="Segoe UI" pitchFamily="34" charset="0"/>
                <a:ea typeface="Segoe UI" pitchFamily="34" charset="-122"/>
                <a:cs typeface="Segoe UI" pitchFamily="34" charset="-120"/>
              </a:rPr>
              <a:t>How the marketing website is built, how a request is served, and how a plan becomes an enquiry.</a:t>
            </a:r>
            <a:endParaRPr lang="en-US" sz="1150" dirty="0"/>
          </a:p>
        </p:txBody>
      </p:sp>
      <p:sp>
        <p:nvSpPr>
          <p:cNvPr id="7" name="Shape 5"/>
          <p:cNvSpPr/>
          <p:nvPr/>
        </p:nvSpPr>
        <p:spPr>
          <a:xfrm>
            <a:off x="914400" y="3383280"/>
            <a:ext cx="3108960" cy="10973"/>
          </a:xfrm>
          <a:prstGeom prst="rect">
            <a:avLst/>
          </a:prstGeom>
          <a:solidFill>
            <a:srgbClr val="2C3846"/>
          </a:solidFill>
          <a:ln/>
        </p:spPr>
      </p:sp>
      <p:sp>
        <p:nvSpPr>
          <p:cNvPr id="8" name="Text 6"/>
          <p:cNvSpPr/>
          <p:nvPr/>
        </p:nvSpPr>
        <p:spPr>
          <a:xfrm>
            <a:off x="914400" y="3566160"/>
            <a:ext cx="7315200" cy="292608"/>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.NET 10</a:t>
            </a:r>
            <a:pPr indent="0" marL="0">
              <a:buNone/>
            </a:pPr>
            <a:r>
              <a:rPr lang="en-US" sz="1150" dirty="0">
                <a:solidFill>
                  <a:srgbClr val="5A6572"/>
                </a:solidFill>
                <a:latin typeface="Segoe UI" pitchFamily="34" charset="0"/>
                <a:ea typeface="Segoe UI" pitchFamily="34" charset="-122"/>
                <a:cs typeface="Segoe UI" pitchFamily="34" charset="-120"/>
              </a:rPr>
              <a:t>   +   </a:t>
            </a:r>
            <a:pPr indent="0" marL="0">
              <a:buNone/>
            </a:pPr>
            <a:r>
              <a:rPr lang="en-US" sz="1150" b="1" dirty="0">
                <a:solidFill>
                  <a:srgbClr val="FFFFFF"/>
                </a:solidFill>
                <a:latin typeface="Segoe UI" pitchFamily="34" charset="0"/>
                <a:ea typeface="Segoe UI" pitchFamily="34" charset="-122"/>
                <a:cs typeface="Segoe UI" pitchFamily="34" charset="-120"/>
              </a:rPr>
              <a:t>Blazor Web App</a:t>
            </a:r>
            <a:pPr indent="0" marL="0">
              <a:buNone/>
            </a:pPr>
            <a:r>
              <a:rPr lang="en-US" sz="1150" dirty="0">
                <a:solidFill>
                  <a:srgbClr val="5A6572"/>
                </a:solidFill>
                <a:latin typeface="Segoe UI" pitchFamily="34" charset="0"/>
                <a:ea typeface="Segoe UI" pitchFamily="34" charset="-122"/>
                <a:cs typeface="Segoe UI" pitchFamily="34" charset="-120"/>
              </a:rPr>
              <a:t>   +   </a:t>
            </a:r>
            <a:pPr indent="0" marL="0">
              <a:buNone/>
            </a:pPr>
            <a:r>
              <a:rPr lang="en-US" sz="1150" b="1" dirty="0">
                <a:solidFill>
                  <a:srgbClr val="FFFFFF"/>
                </a:solidFill>
                <a:latin typeface="Segoe UI" pitchFamily="34" charset="0"/>
                <a:ea typeface="Segoe UI" pitchFamily="34" charset="-122"/>
                <a:cs typeface="Segoe UI" pitchFamily="34" charset="-120"/>
              </a:rPr>
              <a:t>C#</a:t>
            </a:r>
            <a:pPr indent="0" marL="0">
              <a:buNone/>
            </a:pPr>
            <a:r>
              <a:rPr lang="en-US" sz="1150" dirty="0">
                <a:solidFill>
                  <a:srgbClr val="5A6572"/>
                </a:solidFill>
                <a:latin typeface="Segoe UI" pitchFamily="34" charset="0"/>
                <a:ea typeface="Segoe UI" pitchFamily="34" charset="-122"/>
                <a:cs typeface="Segoe UI" pitchFamily="34" charset="-120"/>
              </a:rPr>
              <a:t>   +   </a:t>
            </a:r>
            <a:pPr indent="0" marL="0">
              <a:buNone/>
            </a:pPr>
            <a:r>
              <a:rPr lang="en-US" sz="1150" b="1" dirty="0">
                <a:solidFill>
                  <a:srgbClr val="FFFFFF"/>
                </a:solidFill>
                <a:latin typeface="Segoe UI" pitchFamily="34" charset="0"/>
                <a:ea typeface="Segoe UI" pitchFamily="34" charset="-122"/>
                <a:cs typeface="Segoe UI" pitchFamily="34" charset="-120"/>
              </a:rPr>
              <a:t>hand-written CSS</a:t>
            </a:r>
            <a:endParaRPr lang="en-US" sz="1150" dirty="0"/>
          </a:p>
        </p:txBody>
      </p:sp>
      <p:sp>
        <p:nvSpPr>
          <p:cNvPr id="9" name="Text 7"/>
          <p:cNvSpPr/>
          <p:nvPr/>
        </p:nvSpPr>
        <p:spPr>
          <a:xfrm>
            <a:off x="914400" y="3950208"/>
            <a:ext cx="7315200" cy="274320"/>
          </a:xfrm>
          <a:prstGeom prst="rect">
            <a:avLst/>
          </a:prstGeom>
          <a:noFill/>
          <a:ln/>
        </p:spPr>
        <p:txBody>
          <a:bodyPr wrap="square" rtlCol="0" anchor="ctr"/>
          <a:lstStyle/>
          <a:p>
            <a:pPr indent="0" marL="0">
              <a:buNone/>
            </a:pPr>
            <a:r>
              <a:rPr lang="en-US" sz="1000" dirty="0">
                <a:solidFill>
                  <a:srgbClr val="8A93A1"/>
                </a:solidFill>
                <a:latin typeface="Segoe UI" pitchFamily="34" charset="0"/>
                <a:ea typeface="Segoe UI" pitchFamily="34" charset="-122"/>
                <a:cs typeface="Segoe UI" pitchFamily="34" charset="-120"/>
              </a:rPr>
              <a:t>Zero NuGet packages  ·  Zero runtime npm packages  ·  Zero third-party requests</a:t>
            </a:r>
            <a:endParaRPr lang="en-US" sz="1000" dirty="0"/>
          </a:p>
        </p:txBody>
      </p:sp>
      <p:sp>
        <p:nvSpPr>
          <p:cNvPr id="10" name="Text 8"/>
          <p:cNvSpPr/>
          <p:nvPr/>
        </p:nvSpPr>
        <p:spPr>
          <a:xfrm>
            <a:off x="914400" y="4434840"/>
            <a:ext cx="3657600" cy="274320"/>
          </a:xfrm>
          <a:prstGeom prst="rect">
            <a:avLst/>
          </a:prstGeom>
          <a:noFill/>
          <a:ln/>
        </p:spPr>
        <p:txBody>
          <a:bodyPr wrap="square" rtlCol="0" anchor="ctr"/>
          <a:lstStyle/>
          <a:p>
            <a:pPr indent="0" marL="0">
              <a:buNone/>
            </a:pPr>
            <a:r>
              <a:rPr lang="en-US" sz="900" dirty="0">
                <a:solidFill>
                  <a:srgbClr val="6C7684"/>
                </a:solidFill>
                <a:latin typeface="Segoe UI" pitchFamily="34" charset="0"/>
                <a:ea typeface="Segoe UI" pitchFamily="34" charset="-122"/>
                <a:cs typeface="Segoe UI" pitchFamily="34" charset="-120"/>
              </a:rPr>
              <a:t>Axonite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566928" y="4668012"/>
            <a:ext cx="8010144" cy="10973"/>
          </a:xfrm>
          <a:prstGeom prst="rect">
            <a:avLst/>
          </a:prstGeom>
          <a:solidFill>
            <a:srgbClr val="E4E1DB"/>
          </a:solidFill>
          <a:ln/>
        </p:spPr>
      </p:sp>
      <p:sp>
        <p:nvSpPr>
          <p:cNvPr id="3" name="Text 1"/>
          <p:cNvSpPr/>
          <p:nvPr/>
        </p:nvSpPr>
        <p:spPr>
          <a:xfrm>
            <a:off x="566928" y="4722876"/>
            <a:ext cx="6408115" cy="274320"/>
          </a:xfrm>
          <a:prstGeom prst="rect">
            <a:avLst/>
          </a:prstGeom>
          <a:noFill/>
          <a:ln/>
        </p:spPr>
        <p:txBody>
          <a:bodyPr wrap="square" rtlCol="0" anchor="ctr"/>
          <a:lstStyle/>
          <a:p>
            <a:pPr indent="0" marL="0">
              <a:buNone/>
            </a:pPr>
            <a:r>
              <a:rPr lang="en-US" sz="800" dirty="0">
                <a:solidFill>
                  <a:srgbClr val="5B6472"/>
                </a:solidFill>
                <a:latin typeface="Segoe UI" pitchFamily="34" charset="0"/>
                <a:ea typeface="Segoe UI" pitchFamily="34" charset="-122"/>
                <a:cs typeface="Segoe UI" pitchFamily="34" charset="-120"/>
              </a:rPr>
              <a:t>Polypus  |  Architecture of the marketing website  |  owned by Axonite</a:t>
            </a:r>
            <a:endParaRPr lang="en-US" sz="800" dirty="0"/>
          </a:p>
        </p:txBody>
      </p:sp>
      <p:sp>
        <p:nvSpPr>
          <p:cNvPr id="4" name="Text 2"/>
          <p:cNvSpPr/>
          <p:nvPr/>
        </p:nvSpPr>
        <p:spPr>
          <a:xfrm>
            <a:off x="8028432" y="4722876"/>
            <a:ext cx="548640" cy="274320"/>
          </a:xfrm>
          <a:prstGeom prst="rect">
            <a:avLst/>
          </a:prstGeom>
          <a:noFill/>
          <a:ln/>
        </p:spPr>
        <p:txBody>
          <a:bodyPr wrap="square" rtlCol="0" anchor="ctr"/>
          <a:lstStyle/>
          <a:p>
            <a:pPr algn="r" indent="0" marL="0">
              <a:buNone/>
            </a:pPr>
            <a:r>
              <a:rPr lang="en-US" sz="800" dirty="0">
                <a:solidFill>
                  <a:srgbClr val="5B6472"/>
                </a:solidFill>
                <a:latin typeface="Consolas" pitchFamily="34" charset="0"/>
                <a:ea typeface="Consolas" pitchFamily="34" charset="-122"/>
                <a:cs typeface="Consolas" pitchFamily="34" charset="-120"/>
              </a:rPr>
              <a:t>2</a:t>
            </a:r>
            <a:endParaRPr lang="en-US" sz="800" dirty="0"/>
          </a:p>
        </p:txBody>
      </p:sp>
      <p:sp>
        <p:nvSpPr>
          <p:cNvPr id="5" name="Shape 3"/>
          <p:cNvSpPr/>
          <p:nvPr/>
        </p:nvSpPr>
        <p:spPr>
          <a:xfrm>
            <a:off x="566928" y="384048"/>
            <a:ext cx="420624" cy="50292"/>
          </a:xfrm>
          <a:prstGeom prst="rect">
            <a:avLst/>
          </a:prstGeom>
          <a:solidFill>
            <a:srgbClr val="0F766E"/>
          </a:solidFill>
          <a:ln/>
        </p:spPr>
      </p:sp>
      <p:sp>
        <p:nvSpPr>
          <p:cNvPr id="6" name="Text 4"/>
          <p:cNvSpPr/>
          <p:nvPr/>
        </p:nvSpPr>
        <p:spPr>
          <a:xfrm>
            <a:off x="566928" y="548640"/>
            <a:ext cx="8010144" cy="201168"/>
          </a:xfrm>
          <a:prstGeom prst="rect">
            <a:avLst/>
          </a:prstGeom>
          <a:noFill/>
          <a:ln/>
        </p:spPr>
        <p:txBody>
          <a:bodyPr wrap="square" rtlCol="0" anchor="ctr"/>
          <a:lstStyle/>
          <a:p>
            <a:pPr indent="0" marL="0">
              <a:buNone/>
            </a:pPr>
            <a:r>
              <a:rPr lang="en-US" sz="900" b="1" spc="140" kern="0" dirty="0">
                <a:solidFill>
                  <a:srgbClr val="0F766E"/>
                </a:solidFill>
                <a:latin typeface="Segoe UI" pitchFamily="34" charset="0"/>
                <a:ea typeface="Segoe UI" pitchFamily="34" charset="-122"/>
                <a:cs typeface="Segoe UI" pitchFamily="34" charset="-120"/>
              </a:rPr>
              <a:t>THE BRIEF</a:t>
            </a:r>
            <a:endParaRPr lang="en-US" sz="900" dirty="0"/>
          </a:p>
        </p:txBody>
      </p:sp>
      <p:sp>
        <p:nvSpPr>
          <p:cNvPr id="7" name="Text 5"/>
          <p:cNvSpPr/>
          <p:nvPr/>
        </p:nvSpPr>
        <p:spPr>
          <a:xfrm>
            <a:off x="566928" y="786384"/>
            <a:ext cx="8010144" cy="420624"/>
          </a:xfrm>
          <a:prstGeom prst="rect">
            <a:avLst/>
          </a:prstGeom>
          <a:noFill/>
          <a:ln/>
        </p:spPr>
        <p:txBody>
          <a:bodyPr wrap="square" rtlCol="0" anchor="ctr"/>
          <a:lstStyle/>
          <a:p>
            <a:pPr indent="0" marL="0">
              <a:buNone/>
            </a:pPr>
            <a:r>
              <a:rPr lang="en-US" sz="2400" dirty="0">
                <a:solidFill>
                  <a:srgbClr val="12151C"/>
                </a:solidFill>
                <a:latin typeface="Georgia" pitchFamily="34" charset="0"/>
                <a:ea typeface="Georgia" pitchFamily="34" charset="-122"/>
                <a:cs typeface="Georgia" pitchFamily="34" charset="-120"/>
              </a:rPr>
              <a:t>One product, one page, one clear action</a:t>
            </a:r>
            <a:endParaRPr lang="en-US" sz="2400" dirty="0"/>
          </a:p>
        </p:txBody>
      </p:sp>
      <p:sp>
        <p:nvSpPr>
          <p:cNvPr id="8" name="Text 6"/>
          <p:cNvSpPr/>
          <p:nvPr/>
        </p:nvSpPr>
        <p:spPr>
          <a:xfrm>
            <a:off x="566928" y="1243584"/>
            <a:ext cx="8010144" cy="310896"/>
          </a:xfrm>
          <a:prstGeom prst="rect">
            <a:avLst/>
          </a:prstGeom>
          <a:noFill/>
          <a:ln/>
        </p:spPr>
        <p:txBody>
          <a:bodyPr wrap="square" rtlCol="0" anchor="t"/>
          <a:lstStyle/>
          <a:p>
            <a:pPr indent="0" marL="0">
              <a:buNone/>
            </a:pPr>
            <a:r>
              <a:rPr lang="en-US" sz="1050" dirty="0">
                <a:solidFill>
                  <a:srgbClr val="3B4250"/>
                </a:solidFill>
                <a:latin typeface="Segoe UI" pitchFamily="34" charset="0"/>
                <a:ea typeface="Segoe UI" pitchFamily="34" charset="-122"/>
                <a:cs typeface="Segoe UI" pitchFamily="34" charset="-120"/>
              </a:rPr>
              <a:t>A single marketing website for Polypus - no database, no authentication, no CMS.</a:t>
            </a:r>
            <a:endParaRPr lang="en-US" sz="1050" dirty="0"/>
          </a:p>
        </p:txBody>
      </p:sp>
      <p:sp>
        <p:nvSpPr>
          <p:cNvPr id="9" name="Shape 7"/>
          <p:cNvSpPr/>
          <p:nvPr/>
        </p:nvSpPr>
        <p:spPr>
          <a:xfrm>
            <a:off x="566928" y="1691640"/>
            <a:ext cx="2505456" cy="2670048"/>
          </a:xfrm>
          <a:prstGeom prst="roundRect">
            <a:avLst>
              <a:gd name="adj" fmla="val 1825"/>
            </a:avLst>
          </a:prstGeom>
          <a:solidFill>
            <a:srgbClr val="FFFFFF"/>
          </a:solidFill>
          <a:ln w="12700">
            <a:solidFill>
              <a:srgbClr val="E4E1DB"/>
            </a:solidFill>
            <a:prstDash val="solid"/>
          </a:ln>
        </p:spPr>
      </p:sp>
      <p:sp>
        <p:nvSpPr>
          <p:cNvPr id="10" name="Shape 8"/>
          <p:cNvSpPr/>
          <p:nvPr/>
        </p:nvSpPr>
        <p:spPr>
          <a:xfrm>
            <a:off x="804672" y="1938528"/>
            <a:ext cx="274320" cy="41148"/>
          </a:xfrm>
          <a:prstGeom prst="rect">
            <a:avLst/>
          </a:prstGeom>
          <a:solidFill>
            <a:srgbClr val="0F766E"/>
          </a:solidFill>
          <a:ln/>
        </p:spPr>
      </p:sp>
      <p:sp>
        <p:nvSpPr>
          <p:cNvPr id="11" name="Text 9"/>
          <p:cNvSpPr/>
          <p:nvPr/>
        </p:nvSpPr>
        <p:spPr>
          <a:xfrm>
            <a:off x="804672" y="2048256"/>
            <a:ext cx="2048256" cy="274320"/>
          </a:xfrm>
          <a:prstGeom prst="rect">
            <a:avLst/>
          </a:prstGeom>
          <a:noFill/>
          <a:ln/>
        </p:spPr>
        <p:txBody>
          <a:bodyPr wrap="square" rtlCol="0" anchor="ctr"/>
          <a:lstStyle/>
          <a:p>
            <a:pPr indent="0" marL="0">
              <a:buNone/>
            </a:pPr>
            <a:r>
              <a:rPr lang="en-US" sz="1350" dirty="0">
                <a:solidFill>
                  <a:srgbClr val="12151C"/>
                </a:solidFill>
                <a:latin typeface="Georgia" pitchFamily="34" charset="0"/>
                <a:ea typeface="Georgia" pitchFamily="34" charset="-122"/>
                <a:cs typeface="Georgia" pitchFamily="34" charset="-120"/>
              </a:rPr>
              <a:t>What it is</a:t>
            </a:r>
            <a:endParaRPr lang="en-US" sz="1350" dirty="0"/>
          </a:p>
        </p:txBody>
      </p:sp>
      <p:sp>
        <p:nvSpPr>
          <p:cNvPr id="12" name="Text 10"/>
          <p:cNvSpPr/>
          <p:nvPr/>
        </p:nvSpPr>
        <p:spPr>
          <a:xfrm>
            <a:off x="804672" y="2432304"/>
            <a:ext cx="2048256" cy="1737360"/>
          </a:xfrm>
          <a:prstGeom prst="rect">
            <a:avLst/>
          </a:prstGeom>
          <a:noFill/>
          <a:ln/>
        </p:spPr>
        <p:txBody>
          <a:bodyPr wrap="square" rtlCol="0" anchor="ctr"/>
          <a:lstStyle/>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Public marketing site for one product</a:t>
            </a:r>
            <a:endParaRPr lang="en-US" sz="950" dirty="0"/>
          </a:p>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Static content, served as HTML</a:t>
            </a:r>
            <a:endParaRPr lang="en-US" sz="950" dirty="0"/>
          </a:p>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One interactive conversion path</a:t>
            </a:r>
            <a:endParaRPr lang="en-US" sz="950" dirty="0"/>
          </a:p>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Every word lives in version control</a:t>
            </a:r>
            <a:endParaRPr lang="en-US" sz="950" dirty="0"/>
          </a:p>
        </p:txBody>
      </p:sp>
      <p:sp>
        <p:nvSpPr>
          <p:cNvPr id="13" name="Shape 11"/>
          <p:cNvSpPr/>
          <p:nvPr/>
        </p:nvSpPr>
        <p:spPr>
          <a:xfrm>
            <a:off x="3236976" y="1691640"/>
            <a:ext cx="2505456" cy="2670048"/>
          </a:xfrm>
          <a:prstGeom prst="roundRect">
            <a:avLst>
              <a:gd name="adj" fmla="val 1825"/>
            </a:avLst>
          </a:prstGeom>
          <a:solidFill>
            <a:srgbClr val="FFFFFF"/>
          </a:solidFill>
          <a:ln w="12700">
            <a:solidFill>
              <a:srgbClr val="E4E1DB"/>
            </a:solidFill>
            <a:prstDash val="solid"/>
          </a:ln>
        </p:spPr>
      </p:sp>
      <p:sp>
        <p:nvSpPr>
          <p:cNvPr id="14" name="Shape 12"/>
          <p:cNvSpPr/>
          <p:nvPr/>
        </p:nvSpPr>
        <p:spPr>
          <a:xfrm>
            <a:off x="3474720" y="1938528"/>
            <a:ext cx="274320" cy="41148"/>
          </a:xfrm>
          <a:prstGeom prst="rect">
            <a:avLst/>
          </a:prstGeom>
          <a:solidFill>
            <a:srgbClr val="0F766E"/>
          </a:solidFill>
          <a:ln/>
        </p:spPr>
      </p:sp>
      <p:sp>
        <p:nvSpPr>
          <p:cNvPr id="15" name="Text 13"/>
          <p:cNvSpPr/>
          <p:nvPr/>
        </p:nvSpPr>
        <p:spPr>
          <a:xfrm>
            <a:off x="3474720" y="2048256"/>
            <a:ext cx="2048256" cy="274320"/>
          </a:xfrm>
          <a:prstGeom prst="rect">
            <a:avLst/>
          </a:prstGeom>
          <a:noFill/>
          <a:ln/>
        </p:spPr>
        <p:txBody>
          <a:bodyPr wrap="square" rtlCol="0" anchor="ctr"/>
          <a:lstStyle/>
          <a:p>
            <a:pPr indent="0" marL="0">
              <a:buNone/>
            </a:pPr>
            <a:r>
              <a:rPr lang="en-US" sz="1350" dirty="0">
                <a:solidFill>
                  <a:srgbClr val="12151C"/>
                </a:solidFill>
                <a:latin typeface="Georgia" pitchFamily="34" charset="0"/>
                <a:ea typeface="Georgia" pitchFamily="34" charset="-122"/>
                <a:cs typeface="Georgia" pitchFamily="34" charset="-120"/>
              </a:rPr>
              <a:t>What it is not</a:t>
            </a:r>
            <a:endParaRPr lang="en-US" sz="1350" dirty="0"/>
          </a:p>
        </p:txBody>
      </p:sp>
      <p:sp>
        <p:nvSpPr>
          <p:cNvPr id="16" name="Text 14"/>
          <p:cNvSpPr/>
          <p:nvPr/>
        </p:nvSpPr>
        <p:spPr>
          <a:xfrm>
            <a:off x="3474720" y="2432304"/>
            <a:ext cx="2048256" cy="1737360"/>
          </a:xfrm>
          <a:prstGeom prst="rect">
            <a:avLst/>
          </a:prstGeom>
          <a:noFill/>
          <a:ln/>
        </p:spPr>
        <p:txBody>
          <a:bodyPr wrap="square" rtlCol="0" anchor="ctr"/>
          <a:lstStyle/>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Not a customer portal or app</a:t>
            </a:r>
            <a:endParaRPr lang="en-US" sz="950" dirty="0"/>
          </a:p>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No database, no user accounts</a:t>
            </a:r>
            <a:endParaRPr lang="en-US" sz="950" dirty="0"/>
          </a:p>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No CMS, no admin screens</a:t>
            </a:r>
            <a:endParaRPr lang="en-US" sz="950" dirty="0"/>
          </a:p>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No third-party runtime requests</a:t>
            </a:r>
            <a:endParaRPr lang="en-US" sz="950" dirty="0"/>
          </a:p>
        </p:txBody>
      </p:sp>
      <p:sp>
        <p:nvSpPr>
          <p:cNvPr id="17" name="Shape 15"/>
          <p:cNvSpPr/>
          <p:nvPr/>
        </p:nvSpPr>
        <p:spPr>
          <a:xfrm>
            <a:off x="5907024" y="1691640"/>
            <a:ext cx="2505456" cy="2670048"/>
          </a:xfrm>
          <a:prstGeom prst="roundRect">
            <a:avLst>
              <a:gd name="adj" fmla="val 1825"/>
            </a:avLst>
          </a:prstGeom>
          <a:solidFill>
            <a:srgbClr val="FFFFFF"/>
          </a:solidFill>
          <a:ln w="12700">
            <a:solidFill>
              <a:srgbClr val="E4E1DB"/>
            </a:solidFill>
            <a:prstDash val="solid"/>
          </a:ln>
        </p:spPr>
      </p:sp>
      <p:sp>
        <p:nvSpPr>
          <p:cNvPr id="18" name="Shape 16"/>
          <p:cNvSpPr/>
          <p:nvPr/>
        </p:nvSpPr>
        <p:spPr>
          <a:xfrm>
            <a:off x="6144768" y="1938528"/>
            <a:ext cx="274320" cy="41148"/>
          </a:xfrm>
          <a:prstGeom prst="rect">
            <a:avLst/>
          </a:prstGeom>
          <a:solidFill>
            <a:srgbClr val="0F766E"/>
          </a:solidFill>
          <a:ln/>
        </p:spPr>
      </p:sp>
      <p:sp>
        <p:nvSpPr>
          <p:cNvPr id="19" name="Text 17"/>
          <p:cNvSpPr/>
          <p:nvPr/>
        </p:nvSpPr>
        <p:spPr>
          <a:xfrm>
            <a:off x="6144768" y="2048256"/>
            <a:ext cx="2048256" cy="274320"/>
          </a:xfrm>
          <a:prstGeom prst="rect">
            <a:avLst/>
          </a:prstGeom>
          <a:noFill/>
          <a:ln/>
        </p:spPr>
        <p:txBody>
          <a:bodyPr wrap="square" rtlCol="0" anchor="ctr"/>
          <a:lstStyle/>
          <a:p>
            <a:pPr indent="0" marL="0">
              <a:buNone/>
            </a:pPr>
            <a:r>
              <a:rPr lang="en-US" sz="1350" dirty="0">
                <a:solidFill>
                  <a:srgbClr val="12151C"/>
                </a:solidFill>
                <a:latin typeface="Georgia" pitchFamily="34" charset="0"/>
                <a:ea typeface="Georgia" pitchFamily="34" charset="-122"/>
                <a:cs typeface="Georgia" pitchFamily="34" charset="-120"/>
              </a:rPr>
              <a:t>The one job</a:t>
            </a:r>
            <a:endParaRPr lang="en-US" sz="1350" dirty="0"/>
          </a:p>
        </p:txBody>
      </p:sp>
      <p:sp>
        <p:nvSpPr>
          <p:cNvPr id="20" name="Text 18"/>
          <p:cNvSpPr/>
          <p:nvPr/>
        </p:nvSpPr>
        <p:spPr>
          <a:xfrm>
            <a:off x="6144768" y="2432304"/>
            <a:ext cx="2048256" cy="1737360"/>
          </a:xfrm>
          <a:prstGeom prst="rect">
            <a:avLst/>
          </a:prstGeom>
          <a:noFill/>
          <a:ln/>
        </p:spPr>
        <p:txBody>
          <a:bodyPr wrap="square" rtlCol="0" anchor="ctr"/>
          <a:lstStyle/>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Explain Polypus in one screen</a:t>
            </a:r>
            <a:endParaRPr lang="en-US" sz="950" dirty="0"/>
          </a:p>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Show features, plans and proof</a:t>
            </a:r>
            <a:endParaRPr lang="en-US" sz="950" dirty="0"/>
          </a:p>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Name the company behind it</a:t>
            </a:r>
            <a:endParaRPr lang="en-US" sz="950" dirty="0"/>
          </a:p>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Turn a plan click into an enquiry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566928" y="4668012"/>
            <a:ext cx="8010144" cy="10973"/>
          </a:xfrm>
          <a:prstGeom prst="rect">
            <a:avLst/>
          </a:prstGeom>
          <a:solidFill>
            <a:srgbClr val="E4E1DB"/>
          </a:solidFill>
          <a:ln/>
        </p:spPr>
      </p:sp>
      <p:sp>
        <p:nvSpPr>
          <p:cNvPr id="3" name="Text 1"/>
          <p:cNvSpPr/>
          <p:nvPr/>
        </p:nvSpPr>
        <p:spPr>
          <a:xfrm>
            <a:off x="566928" y="4722876"/>
            <a:ext cx="6408115" cy="274320"/>
          </a:xfrm>
          <a:prstGeom prst="rect">
            <a:avLst/>
          </a:prstGeom>
          <a:noFill/>
          <a:ln/>
        </p:spPr>
        <p:txBody>
          <a:bodyPr wrap="square" rtlCol="0" anchor="ctr"/>
          <a:lstStyle/>
          <a:p>
            <a:pPr indent="0" marL="0">
              <a:buNone/>
            </a:pPr>
            <a:r>
              <a:rPr lang="en-US" sz="800" dirty="0">
                <a:solidFill>
                  <a:srgbClr val="5B6472"/>
                </a:solidFill>
                <a:latin typeface="Segoe UI" pitchFamily="34" charset="0"/>
                <a:ea typeface="Segoe UI" pitchFamily="34" charset="-122"/>
                <a:cs typeface="Segoe UI" pitchFamily="34" charset="-120"/>
              </a:rPr>
              <a:t>Polypus  |  Architecture of the marketing website  |  owned by Axonite</a:t>
            </a:r>
            <a:endParaRPr lang="en-US" sz="800" dirty="0"/>
          </a:p>
        </p:txBody>
      </p:sp>
      <p:sp>
        <p:nvSpPr>
          <p:cNvPr id="4" name="Text 2"/>
          <p:cNvSpPr/>
          <p:nvPr/>
        </p:nvSpPr>
        <p:spPr>
          <a:xfrm>
            <a:off x="8028432" y="4722876"/>
            <a:ext cx="548640" cy="274320"/>
          </a:xfrm>
          <a:prstGeom prst="rect">
            <a:avLst/>
          </a:prstGeom>
          <a:noFill/>
          <a:ln/>
        </p:spPr>
        <p:txBody>
          <a:bodyPr wrap="square" rtlCol="0" anchor="ctr"/>
          <a:lstStyle/>
          <a:p>
            <a:pPr algn="r" indent="0" marL="0">
              <a:buNone/>
            </a:pPr>
            <a:r>
              <a:rPr lang="en-US" sz="800" dirty="0">
                <a:solidFill>
                  <a:srgbClr val="5B6472"/>
                </a:solidFill>
                <a:latin typeface="Consolas" pitchFamily="34" charset="0"/>
                <a:ea typeface="Consolas" pitchFamily="34" charset="-122"/>
                <a:cs typeface="Consolas" pitchFamily="34" charset="-120"/>
              </a:rPr>
              <a:t>3</a:t>
            </a:r>
            <a:endParaRPr lang="en-US" sz="800" dirty="0"/>
          </a:p>
        </p:txBody>
      </p:sp>
      <p:sp>
        <p:nvSpPr>
          <p:cNvPr id="5" name="Shape 3"/>
          <p:cNvSpPr/>
          <p:nvPr/>
        </p:nvSpPr>
        <p:spPr>
          <a:xfrm>
            <a:off x="566928" y="384048"/>
            <a:ext cx="420624" cy="50292"/>
          </a:xfrm>
          <a:prstGeom prst="rect">
            <a:avLst/>
          </a:prstGeom>
          <a:solidFill>
            <a:srgbClr val="0F766E"/>
          </a:solidFill>
          <a:ln/>
        </p:spPr>
      </p:sp>
      <p:sp>
        <p:nvSpPr>
          <p:cNvPr id="6" name="Text 4"/>
          <p:cNvSpPr/>
          <p:nvPr/>
        </p:nvSpPr>
        <p:spPr>
          <a:xfrm>
            <a:off x="566928" y="548640"/>
            <a:ext cx="8010144" cy="201168"/>
          </a:xfrm>
          <a:prstGeom prst="rect">
            <a:avLst/>
          </a:prstGeom>
          <a:noFill/>
          <a:ln/>
        </p:spPr>
        <p:txBody>
          <a:bodyPr wrap="square" rtlCol="0" anchor="ctr"/>
          <a:lstStyle/>
          <a:p>
            <a:pPr indent="0" marL="0">
              <a:buNone/>
            </a:pPr>
            <a:r>
              <a:rPr lang="en-US" sz="900" b="1" spc="140" kern="0" dirty="0">
                <a:solidFill>
                  <a:srgbClr val="0F766E"/>
                </a:solidFill>
                <a:latin typeface="Segoe UI" pitchFamily="34" charset="0"/>
                <a:ea typeface="Segoe UI" pitchFamily="34" charset="-122"/>
                <a:cs typeface="Segoe UI" pitchFamily="34" charset="-120"/>
              </a:rPr>
              <a:t>COVERAGE</a:t>
            </a:r>
            <a:endParaRPr lang="en-US" sz="900" dirty="0"/>
          </a:p>
        </p:txBody>
      </p:sp>
      <p:sp>
        <p:nvSpPr>
          <p:cNvPr id="7" name="Text 5"/>
          <p:cNvSpPr/>
          <p:nvPr/>
        </p:nvSpPr>
        <p:spPr>
          <a:xfrm>
            <a:off x="566928" y="786384"/>
            <a:ext cx="8010144" cy="420624"/>
          </a:xfrm>
          <a:prstGeom prst="rect">
            <a:avLst/>
          </a:prstGeom>
          <a:noFill/>
          <a:ln/>
        </p:spPr>
        <p:txBody>
          <a:bodyPr wrap="square" rtlCol="0" anchor="ctr"/>
          <a:lstStyle/>
          <a:p>
            <a:pPr indent="0" marL="0">
              <a:buNone/>
            </a:pPr>
            <a:r>
              <a:rPr lang="en-US" sz="2400" dirty="0">
                <a:solidFill>
                  <a:srgbClr val="12151C"/>
                </a:solidFill>
                <a:latin typeface="Georgia" pitchFamily="34" charset="0"/>
                <a:ea typeface="Georgia" pitchFamily="34" charset="-122"/>
                <a:cs typeface="Georgia" pitchFamily="34" charset="-120"/>
              </a:rPr>
              <a:t>Every requirement, and where it lives</a:t>
            </a:r>
            <a:endParaRPr lang="en-US" sz="2400" dirty="0"/>
          </a:p>
        </p:txBody>
      </p:sp>
      <p:sp>
        <p:nvSpPr>
          <p:cNvPr id="8" name="Text 6"/>
          <p:cNvSpPr/>
          <p:nvPr/>
        </p:nvSpPr>
        <p:spPr>
          <a:xfrm>
            <a:off x="566928" y="1243584"/>
            <a:ext cx="8010144" cy="310896"/>
          </a:xfrm>
          <a:prstGeom prst="rect">
            <a:avLst/>
          </a:prstGeom>
          <a:noFill/>
          <a:ln/>
        </p:spPr>
        <p:txBody>
          <a:bodyPr wrap="square" rtlCol="0" anchor="t"/>
          <a:lstStyle/>
          <a:p>
            <a:pPr indent="0" marL="0">
              <a:buNone/>
            </a:pPr>
            <a:r>
              <a:rPr lang="en-US" sz="1050" dirty="0">
                <a:solidFill>
                  <a:srgbClr val="3B4250"/>
                </a:solidFill>
                <a:latin typeface="Segoe UI" pitchFamily="34" charset="0"/>
                <a:ea typeface="Segoe UI" pitchFamily="34" charset="-122"/>
                <a:cs typeface="Segoe UI" pitchFamily="34" charset="-120"/>
              </a:rPr>
              <a:t>Nothing in the brief was left implied - each line maps to a named file.</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8010144" cy="914400"/>
        </p:xfrm>
        <a:graphic>
          <a:graphicData uri="http://schemas.openxmlformats.org/drawingml/2006/table">
            <a:tbl>
              <a:tblPr/>
              <a:tblGrid>
                <a:gridCol w="2834640"/>
                <a:gridCol w="3291840"/>
                <a:gridCol w="1883664"/>
              </a:tblGrid>
              <a:tr h="306324">
                <a:tc>
                  <a:txBody>
                    <a:bodyPr/>
                    <a:lstStyle/>
                    <a:p>
                      <a:pPr algn="l" indent="0" marL="0">
                        <a:buNone/>
                      </a:pPr>
                      <a:r>
                        <a:rPr lang="en-US" sz="950" b="1" dirty="0">
                          <a:solidFill>
                            <a:srgbClr val="3B4250"/>
                          </a:solidFill>
                          <a:latin typeface="Segoe UI" pitchFamily="34" charset="0"/>
                          <a:ea typeface="Segoe UI" pitchFamily="34" charset="-122"/>
                          <a:cs typeface="Segoe UI" pitchFamily="34" charset="-120"/>
                        </a:rPr>
                        <a:t>Requirement</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3B4250"/>
                          </a:solidFill>
                          <a:latin typeface="Segoe UI" pitchFamily="34" charset="0"/>
                          <a:ea typeface="Segoe UI" pitchFamily="34" charset="-122"/>
                          <a:cs typeface="Segoe UI" pitchFamily="34" charset="-120"/>
                        </a:rPr>
                        <a:t>Implementation</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3B4250"/>
                          </a:solidFill>
                          <a:latin typeface="Segoe UI" pitchFamily="34" charset="0"/>
                          <a:ea typeface="Segoe UI" pitchFamily="34" charset="-122"/>
                          <a:cs typeface="Segoe UI" pitchFamily="34" charset="-120"/>
                        </a:rPr>
                        <a:t>File</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Home page with product info</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Hero, metrics, document strip</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Pages/Home.razor</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Features section</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Six highlights from the catalog</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Services/FeatureCatalog.cs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Basic plan and others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Four plans, monthly / annual toggle</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Services/PlanCatalog.cs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Company behind the product</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Axonite story, facts, three offices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Models/CompanyProfile.cs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4-5 testimonials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One featured card plus four compact</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Services/TestimonialCatalog.cs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Header logo and nav</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Mark plus Product dropdown</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Layout/Header.razor</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Footer: help, privacy, terms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Four columns from one catalog</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Services/NavigationCatalog.cs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Plan click opens contact</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Plan preselected via URL query</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Shared/PlanCard.razor</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bl>
          </a:graphicData>
        </a:graphic>
      </p:graphicFrame>
      <p:sp>
        <p:nvSpPr>
          <p:cNvPr id="10" name="Shape 7"/>
          <p:cNvSpPr/>
          <p:nvPr/>
        </p:nvSpPr>
        <p:spPr>
          <a:xfrm>
            <a:off x="566928" y="2610612"/>
            <a:ext cx="8010144" cy="306324"/>
          </a:xfrm>
          <a:prstGeom prst="rect">
            <a:avLst/>
          </a:prstGeom>
          <a:solidFill>
            <a:srgbClr val="E7F3F1"/>
          </a:solidFill>
          <a:ln w="12700">
            <a:solidFill>
              <a:srgbClr val="E4E1DB"/>
            </a:solidFill>
            <a:prstDash val="solid"/>
          </a:ln>
        </p:spPr>
      </p:sp>
      <p:sp>
        <p:nvSpPr>
          <p:cNvPr id="11" name="Text 8"/>
          <p:cNvSpPr/>
          <p:nvPr/>
        </p:nvSpPr>
        <p:spPr>
          <a:xfrm>
            <a:off x="640080" y="2610612"/>
            <a:ext cx="2743200" cy="306324"/>
          </a:xfrm>
          <a:prstGeom prst="rect">
            <a:avLst/>
          </a:prstGeom>
          <a:noFill/>
          <a:ln/>
        </p:spPr>
        <p:txBody>
          <a:bodyPr wrap="square" rtlCol="0" anchor="ctr"/>
          <a:lstStyle/>
          <a:p>
            <a:pPr indent="0" marL="0">
              <a:buNone/>
            </a:pPr>
            <a:r>
              <a:rPr lang="en-US" sz="950" b="1" dirty="0">
                <a:solidFill>
                  <a:srgbClr val="12151C"/>
                </a:solidFill>
                <a:latin typeface="Segoe UI" pitchFamily="34" charset="0"/>
                <a:ea typeface="Segoe UI" pitchFamily="34" charset="-122"/>
                <a:cs typeface="Segoe UI" pitchFamily="34" charset="-120"/>
              </a:rPr>
              <a:t>Basic plan and others</a:t>
            </a:r>
            <a:endParaRPr lang="en-US" sz="950" dirty="0"/>
          </a:p>
        </p:txBody>
      </p:sp>
      <p:sp>
        <p:nvSpPr>
          <p:cNvPr id="12" name="Text 9"/>
          <p:cNvSpPr/>
          <p:nvPr/>
        </p:nvSpPr>
        <p:spPr>
          <a:xfrm>
            <a:off x="3474720" y="2610612"/>
            <a:ext cx="3200400" cy="306324"/>
          </a:xfrm>
          <a:prstGeom prst="rect">
            <a:avLst/>
          </a:prstGeom>
          <a:noFill/>
          <a:ln/>
        </p:spPr>
        <p:txBody>
          <a:bodyPr wrap="square" rtlCol="0" anchor="ctr"/>
          <a:lstStyle/>
          <a:p>
            <a:pPr indent="0" marL="0">
              <a:buNone/>
            </a:pPr>
            <a:r>
              <a:rPr lang="en-US" sz="950" dirty="0">
                <a:solidFill>
                  <a:srgbClr val="3B4250"/>
                </a:solidFill>
                <a:latin typeface="Segoe UI" pitchFamily="34" charset="0"/>
                <a:ea typeface="Segoe UI" pitchFamily="34" charset="-122"/>
                <a:cs typeface="Segoe UI" pitchFamily="34" charset="-120"/>
              </a:rPr>
              <a:t>Four plans, monthly / annual toggle</a:t>
            </a:r>
            <a:endParaRPr lang="en-US" sz="950" dirty="0"/>
          </a:p>
        </p:txBody>
      </p:sp>
      <p:sp>
        <p:nvSpPr>
          <p:cNvPr id="13" name="Text 10"/>
          <p:cNvSpPr/>
          <p:nvPr/>
        </p:nvSpPr>
        <p:spPr>
          <a:xfrm>
            <a:off x="6766560" y="2610612"/>
            <a:ext cx="1828800" cy="306324"/>
          </a:xfrm>
          <a:prstGeom prst="rect">
            <a:avLst/>
          </a:prstGeom>
          <a:noFill/>
          <a:ln/>
        </p:spPr>
        <p:txBody>
          <a:bodyPr wrap="square" rtlCol="0" anchor="ctr"/>
          <a:lstStyle/>
          <a:p>
            <a:pPr indent="0" marL="0">
              <a:buNone/>
            </a:pPr>
            <a:r>
              <a:rPr lang="en-US" sz="850" dirty="0">
                <a:solidFill>
                  <a:srgbClr val="0F766E"/>
                </a:solidFill>
                <a:latin typeface="Consolas" pitchFamily="34" charset="0"/>
                <a:ea typeface="Consolas" pitchFamily="34" charset="-122"/>
                <a:cs typeface="Consolas" pitchFamily="34" charset="-120"/>
              </a:rPr>
              <a:t>Services/PlanCatalog.cs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566928" y="4668012"/>
            <a:ext cx="8010144" cy="10973"/>
          </a:xfrm>
          <a:prstGeom prst="rect">
            <a:avLst/>
          </a:prstGeom>
          <a:solidFill>
            <a:srgbClr val="E4E1DB"/>
          </a:solidFill>
          <a:ln/>
        </p:spPr>
      </p:sp>
      <p:sp>
        <p:nvSpPr>
          <p:cNvPr id="3" name="Text 1"/>
          <p:cNvSpPr/>
          <p:nvPr/>
        </p:nvSpPr>
        <p:spPr>
          <a:xfrm>
            <a:off x="566928" y="4722876"/>
            <a:ext cx="6408115" cy="274320"/>
          </a:xfrm>
          <a:prstGeom prst="rect">
            <a:avLst/>
          </a:prstGeom>
          <a:noFill/>
          <a:ln/>
        </p:spPr>
        <p:txBody>
          <a:bodyPr wrap="square" rtlCol="0" anchor="ctr"/>
          <a:lstStyle/>
          <a:p>
            <a:pPr indent="0" marL="0">
              <a:buNone/>
            </a:pPr>
            <a:r>
              <a:rPr lang="en-US" sz="800" dirty="0">
                <a:solidFill>
                  <a:srgbClr val="5B6472"/>
                </a:solidFill>
                <a:latin typeface="Segoe UI" pitchFamily="34" charset="0"/>
                <a:ea typeface="Segoe UI" pitchFamily="34" charset="-122"/>
                <a:cs typeface="Segoe UI" pitchFamily="34" charset="-120"/>
              </a:rPr>
              <a:t>Polypus  |  Architecture of the marketing website  |  owned by Axonite</a:t>
            </a:r>
            <a:endParaRPr lang="en-US" sz="800" dirty="0"/>
          </a:p>
        </p:txBody>
      </p:sp>
      <p:sp>
        <p:nvSpPr>
          <p:cNvPr id="4" name="Text 2"/>
          <p:cNvSpPr/>
          <p:nvPr/>
        </p:nvSpPr>
        <p:spPr>
          <a:xfrm>
            <a:off x="8028432" y="4722876"/>
            <a:ext cx="548640" cy="274320"/>
          </a:xfrm>
          <a:prstGeom prst="rect">
            <a:avLst/>
          </a:prstGeom>
          <a:noFill/>
          <a:ln/>
        </p:spPr>
        <p:txBody>
          <a:bodyPr wrap="square" rtlCol="0" anchor="ctr"/>
          <a:lstStyle/>
          <a:p>
            <a:pPr algn="r" indent="0" marL="0">
              <a:buNone/>
            </a:pPr>
            <a:r>
              <a:rPr lang="en-US" sz="800" dirty="0">
                <a:solidFill>
                  <a:srgbClr val="5B6472"/>
                </a:solidFill>
                <a:latin typeface="Consolas" pitchFamily="34" charset="0"/>
                <a:ea typeface="Consolas" pitchFamily="34" charset="-122"/>
                <a:cs typeface="Consolas" pitchFamily="34" charset="-120"/>
              </a:rPr>
              <a:t>4</a:t>
            </a:r>
            <a:endParaRPr lang="en-US" sz="800" dirty="0"/>
          </a:p>
        </p:txBody>
      </p:sp>
      <p:sp>
        <p:nvSpPr>
          <p:cNvPr id="5" name="Shape 3"/>
          <p:cNvSpPr/>
          <p:nvPr/>
        </p:nvSpPr>
        <p:spPr>
          <a:xfrm>
            <a:off x="566928" y="384048"/>
            <a:ext cx="420624" cy="50292"/>
          </a:xfrm>
          <a:prstGeom prst="rect">
            <a:avLst/>
          </a:prstGeom>
          <a:solidFill>
            <a:srgbClr val="0F766E"/>
          </a:solidFill>
          <a:ln/>
        </p:spPr>
      </p:sp>
      <p:sp>
        <p:nvSpPr>
          <p:cNvPr id="6" name="Text 4"/>
          <p:cNvSpPr/>
          <p:nvPr/>
        </p:nvSpPr>
        <p:spPr>
          <a:xfrm>
            <a:off x="566928" y="548640"/>
            <a:ext cx="8010144" cy="201168"/>
          </a:xfrm>
          <a:prstGeom prst="rect">
            <a:avLst/>
          </a:prstGeom>
          <a:noFill/>
          <a:ln/>
        </p:spPr>
        <p:txBody>
          <a:bodyPr wrap="square" rtlCol="0" anchor="ctr"/>
          <a:lstStyle/>
          <a:p>
            <a:pPr indent="0" marL="0">
              <a:buNone/>
            </a:pPr>
            <a:r>
              <a:rPr lang="en-US" sz="900" b="1" spc="140" kern="0" dirty="0">
                <a:solidFill>
                  <a:srgbClr val="0F766E"/>
                </a:solidFill>
                <a:latin typeface="Segoe UI" pitchFamily="34" charset="0"/>
                <a:ea typeface="Segoe UI" pitchFamily="34" charset="-122"/>
                <a:cs typeface="Segoe UI" pitchFamily="34" charset="-120"/>
              </a:rPr>
              <a:t>TECHNOLOGY</a:t>
            </a:r>
            <a:endParaRPr lang="en-US" sz="900" dirty="0"/>
          </a:p>
        </p:txBody>
      </p:sp>
      <p:sp>
        <p:nvSpPr>
          <p:cNvPr id="7" name="Text 5"/>
          <p:cNvSpPr/>
          <p:nvPr/>
        </p:nvSpPr>
        <p:spPr>
          <a:xfrm>
            <a:off x="566928" y="786384"/>
            <a:ext cx="8010144" cy="420624"/>
          </a:xfrm>
          <a:prstGeom prst="rect">
            <a:avLst/>
          </a:prstGeom>
          <a:noFill/>
          <a:ln/>
        </p:spPr>
        <p:txBody>
          <a:bodyPr wrap="square" rtlCol="0" anchor="ctr"/>
          <a:lstStyle/>
          <a:p>
            <a:pPr indent="0" marL="0">
              <a:buNone/>
            </a:pPr>
            <a:r>
              <a:rPr lang="en-US" sz="2400" dirty="0">
                <a:solidFill>
                  <a:srgbClr val="12151C"/>
                </a:solidFill>
                <a:latin typeface="Georgia" pitchFamily="34" charset="0"/>
                <a:ea typeface="Georgia" pitchFamily="34" charset="-122"/>
                <a:cs typeface="Georgia" pitchFamily="34" charset="-120"/>
              </a:rPr>
              <a:t>A deliberately small stack</a:t>
            </a:r>
            <a:endParaRPr lang="en-US" sz="2400" dirty="0"/>
          </a:p>
        </p:txBody>
      </p:sp>
      <p:sp>
        <p:nvSpPr>
          <p:cNvPr id="8" name="Text 6"/>
          <p:cNvSpPr/>
          <p:nvPr/>
        </p:nvSpPr>
        <p:spPr>
          <a:xfrm>
            <a:off x="566928" y="1243584"/>
            <a:ext cx="8010144" cy="310896"/>
          </a:xfrm>
          <a:prstGeom prst="rect">
            <a:avLst/>
          </a:prstGeom>
          <a:noFill/>
          <a:ln/>
        </p:spPr>
        <p:txBody>
          <a:bodyPr wrap="square" rtlCol="0" anchor="t"/>
          <a:lstStyle/>
          <a:p>
            <a:pPr indent="0" marL="0">
              <a:buNone/>
            </a:pPr>
            <a:r>
              <a:rPr lang="en-US" sz="1050" dirty="0">
                <a:solidFill>
                  <a:srgbClr val="3B4250"/>
                </a:solidFill>
                <a:latin typeface="Segoe UI" pitchFamily="34" charset="0"/>
                <a:ea typeface="Segoe UI" pitchFamily="34" charset="-122"/>
                <a:cs typeface="Segoe UI" pitchFamily="34" charset="-120"/>
              </a:rPr>
              <a:t>Five real dependencies. Everything else is the framework, or written by hand.</a:t>
            </a:r>
            <a:endParaRPr lang="en-US" sz="1050" dirty="0"/>
          </a:p>
        </p:txBody>
      </p:sp>
      <p:sp>
        <p:nvSpPr>
          <p:cNvPr id="9" name="Shape 7"/>
          <p:cNvSpPr/>
          <p:nvPr/>
        </p:nvSpPr>
        <p:spPr>
          <a:xfrm>
            <a:off x="566928" y="1737360"/>
            <a:ext cx="2505456" cy="1133856"/>
          </a:xfrm>
          <a:prstGeom prst="roundRect">
            <a:avLst>
              <a:gd name="adj" fmla="val 4032"/>
            </a:avLst>
          </a:prstGeom>
          <a:solidFill>
            <a:srgbClr val="FFFFFF"/>
          </a:solidFill>
          <a:ln w="12700">
            <a:solidFill>
              <a:srgbClr val="E4E1DB"/>
            </a:solidFill>
            <a:prstDash val="solid"/>
          </a:ln>
        </p:spPr>
      </p:sp>
      <p:sp>
        <p:nvSpPr>
          <p:cNvPr id="10" name="Shape 8"/>
          <p:cNvSpPr/>
          <p:nvPr/>
        </p:nvSpPr>
        <p:spPr>
          <a:xfrm>
            <a:off x="566928" y="1737360"/>
            <a:ext cx="50292" cy="1133856"/>
          </a:xfrm>
          <a:prstGeom prst="rect">
            <a:avLst/>
          </a:prstGeom>
          <a:solidFill>
            <a:srgbClr val="0F766E"/>
          </a:solidFill>
          <a:ln/>
        </p:spPr>
      </p:sp>
      <p:sp>
        <p:nvSpPr>
          <p:cNvPr id="11" name="Text 9"/>
          <p:cNvSpPr/>
          <p:nvPr/>
        </p:nvSpPr>
        <p:spPr>
          <a:xfrm>
            <a:off x="786384" y="1865376"/>
            <a:ext cx="2139696" cy="256032"/>
          </a:xfrm>
          <a:prstGeom prst="rect">
            <a:avLst/>
          </a:prstGeom>
          <a:noFill/>
          <a:ln/>
        </p:spPr>
        <p:txBody>
          <a:bodyPr wrap="square" rtlCol="0" anchor="ctr"/>
          <a:lstStyle/>
          <a:p>
            <a:pPr indent="0" marL="0">
              <a:buNone/>
            </a:pPr>
            <a:r>
              <a:rPr lang="en-US" sz="1250" b="1" dirty="0">
                <a:solidFill>
                  <a:srgbClr val="12151C"/>
                </a:solidFill>
                <a:latin typeface="Segoe UI" pitchFamily="34" charset="0"/>
                <a:ea typeface="Segoe UI" pitchFamily="34" charset="-122"/>
                <a:cs typeface="Segoe UI" pitchFamily="34" charset="-120"/>
              </a:rPr>
              <a:t>.NET 10</a:t>
            </a:r>
            <a:endParaRPr lang="en-US" sz="1250" dirty="0"/>
          </a:p>
        </p:txBody>
      </p:sp>
      <p:sp>
        <p:nvSpPr>
          <p:cNvPr id="12" name="Text 10"/>
          <p:cNvSpPr/>
          <p:nvPr/>
        </p:nvSpPr>
        <p:spPr>
          <a:xfrm>
            <a:off x="786384" y="2139696"/>
            <a:ext cx="2139696" cy="201168"/>
          </a:xfrm>
          <a:prstGeom prst="rect">
            <a:avLst/>
          </a:prstGeom>
          <a:noFill/>
          <a:ln/>
        </p:spPr>
        <p:txBody>
          <a:bodyPr wrap="square" rtlCol="0" anchor="ctr"/>
          <a:lstStyle/>
          <a:p>
            <a:pPr indent="0" marL="0">
              <a:buNone/>
            </a:pPr>
            <a:r>
              <a:rPr lang="en-US" sz="900" dirty="0">
                <a:solidFill>
                  <a:srgbClr val="0F766E"/>
                </a:solidFill>
                <a:latin typeface="Segoe UI" pitchFamily="34" charset="0"/>
                <a:ea typeface="Segoe UI" pitchFamily="34" charset="-122"/>
                <a:cs typeface="Segoe UI" pitchFamily="34" charset="-120"/>
              </a:rPr>
              <a:t>Runtime and web host</a:t>
            </a:r>
            <a:endParaRPr lang="en-US" sz="900" dirty="0"/>
          </a:p>
        </p:txBody>
      </p:sp>
      <p:sp>
        <p:nvSpPr>
          <p:cNvPr id="13" name="Text 11"/>
          <p:cNvSpPr/>
          <p:nvPr/>
        </p:nvSpPr>
        <p:spPr>
          <a:xfrm>
            <a:off x="786384" y="2359152"/>
            <a:ext cx="2121408" cy="438912"/>
          </a:xfrm>
          <a:prstGeom prst="rect">
            <a:avLst/>
          </a:prstGeom>
          <a:noFill/>
          <a:ln/>
        </p:spPr>
        <p:txBody>
          <a:bodyPr wrap="square" rtlCol="0" anchor="ctr"/>
          <a:lstStyle/>
          <a:p>
            <a:pPr indent="0" marL="0">
              <a:lnSpc>
                <a:spcPct val="110000"/>
              </a:lnSpc>
              <a:buNone/>
            </a:pPr>
            <a:r>
              <a:rPr lang="en-US" sz="850" dirty="0">
                <a:solidFill>
                  <a:srgbClr val="5B6472"/>
                </a:solidFill>
                <a:latin typeface="Segoe UI" pitchFamily="34" charset="0"/>
                <a:ea typeface="Segoe UI" pitchFamily="34" charset="-122"/>
                <a:cs typeface="Segoe UI" pitchFamily="34" charset="-120"/>
              </a:rPr>
              <a:t>ASP.NET Core, routing, DI, config, antiforgery</a:t>
            </a:r>
            <a:endParaRPr lang="en-US" sz="850" dirty="0"/>
          </a:p>
        </p:txBody>
      </p:sp>
      <p:sp>
        <p:nvSpPr>
          <p:cNvPr id="14" name="Shape 12"/>
          <p:cNvSpPr/>
          <p:nvPr/>
        </p:nvSpPr>
        <p:spPr>
          <a:xfrm>
            <a:off x="3236976" y="1737360"/>
            <a:ext cx="2505456" cy="1133856"/>
          </a:xfrm>
          <a:prstGeom prst="roundRect">
            <a:avLst>
              <a:gd name="adj" fmla="val 4032"/>
            </a:avLst>
          </a:prstGeom>
          <a:solidFill>
            <a:srgbClr val="FFFFFF"/>
          </a:solidFill>
          <a:ln w="12700">
            <a:solidFill>
              <a:srgbClr val="E4E1DB"/>
            </a:solidFill>
            <a:prstDash val="solid"/>
          </a:ln>
        </p:spPr>
      </p:sp>
      <p:sp>
        <p:nvSpPr>
          <p:cNvPr id="15" name="Shape 13"/>
          <p:cNvSpPr/>
          <p:nvPr/>
        </p:nvSpPr>
        <p:spPr>
          <a:xfrm>
            <a:off x="3236976" y="1737360"/>
            <a:ext cx="50292" cy="1133856"/>
          </a:xfrm>
          <a:prstGeom prst="rect">
            <a:avLst/>
          </a:prstGeom>
          <a:solidFill>
            <a:srgbClr val="0F766E"/>
          </a:solidFill>
          <a:ln/>
        </p:spPr>
      </p:sp>
      <p:sp>
        <p:nvSpPr>
          <p:cNvPr id="16" name="Text 14"/>
          <p:cNvSpPr/>
          <p:nvPr/>
        </p:nvSpPr>
        <p:spPr>
          <a:xfrm>
            <a:off x="3456432" y="1865376"/>
            <a:ext cx="2139696" cy="256032"/>
          </a:xfrm>
          <a:prstGeom prst="rect">
            <a:avLst/>
          </a:prstGeom>
          <a:noFill/>
          <a:ln/>
        </p:spPr>
        <p:txBody>
          <a:bodyPr wrap="square" rtlCol="0" anchor="ctr"/>
          <a:lstStyle/>
          <a:p>
            <a:pPr indent="0" marL="0">
              <a:buNone/>
            </a:pPr>
            <a:r>
              <a:rPr lang="en-US" sz="1250" b="1" dirty="0">
                <a:solidFill>
                  <a:srgbClr val="12151C"/>
                </a:solidFill>
                <a:latin typeface="Segoe UI" pitchFamily="34" charset="0"/>
                <a:ea typeface="Segoe UI" pitchFamily="34" charset="-122"/>
                <a:cs typeface="Segoe UI" pitchFamily="34" charset="-120"/>
              </a:rPr>
              <a:t>Blazor Web App</a:t>
            </a:r>
            <a:endParaRPr lang="en-US" sz="1250" dirty="0"/>
          </a:p>
        </p:txBody>
      </p:sp>
      <p:sp>
        <p:nvSpPr>
          <p:cNvPr id="17" name="Text 15"/>
          <p:cNvSpPr/>
          <p:nvPr/>
        </p:nvSpPr>
        <p:spPr>
          <a:xfrm>
            <a:off x="3456432" y="2139696"/>
            <a:ext cx="2139696" cy="201168"/>
          </a:xfrm>
          <a:prstGeom prst="rect">
            <a:avLst/>
          </a:prstGeom>
          <a:noFill/>
          <a:ln/>
        </p:spPr>
        <p:txBody>
          <a:bodyPr wrap="square" rtlCol="0" anchor="ctr"/>
          <a:lstStyle/>
          <a:p>
            <a:pPr indent="0" marL="0">
              <a:buNone/>
            </a:pPr>
            <a:r>
              <a:rPr lang="en-US" sz="900" dirty="0">
                <a:solidFill>
                  <a:srgbClr val="0F766E"/>
                </a:solidFill>
                <a:latin typeface="Segoe UI" pitchFamily="34" charset="0"/>
                <a:ea typeface="Segoe UI" pitchFamily="34" charset="-122"/>
                <a:cs typeface="Segoe UI" pitchFamily="34" charset="-120"/>
              </a:rPr>
              <a:t>UI framework</a:t>
            </a:r>
            <a:endParaRPr lang="en-US" sz="900" dirty="0"/>
          </a:p>
        </p:txBody>
      </p:sp>
      <p:sp>
        <p:nvSpPr>
          <p:cNvPr id="18" name="Text 16"/>
          <p:cNvSpPr/>
          <p:nvPr/>
        </p:nvSpPr>
        <p:spPr>
          <a:xfrm>
            <a:off x="3456432" y="2359152"/>
            <a:ext cx="2121408" cy="438912"/>
          </a:xfrm>
          <a:prstGeom prst="rect">
            <a:avLst/>
          </a:prstGeom>
          <a:noFill/>
          <a:ln/>
        </p:spPr>
        <p:txBody>
          <a:bodyPr wrap="square" rtlCol="0" anchor="ctr"/>
          <a:lstStyle/>
          <a:p>
            <a:pPr indent="0" marL="0">
              <a:lnSpc>
                <a:spcPct val="110000"/>
              </a:lnSpc>
              <a:buNone/>
            </a:pPr>
            <a:r>
              <a:rPr lang="en-US" sz="850" dirty="0">
                <a:solidFill>
                  <a:srgbClr val="5B6472"/>
                </a:solidFill>
                <a:latin typeface="Segoe UI" pitchFamily="34" charset="0"/>
                <a:ea typeface="Segoe UI" pitchFamily="34" charset="-122"/>
                <a:cs typeface="Segoe UI" pitchFamily="34" charset="-120"/>
              </a:rPr>
              <a:t>Interactive Server on 4 pages, static elsewhere</a:t>
            </a:r>
            <a:endParaRPr lang="en-US" sz="850" dirty="0"/>
          </a:p>
        </p:txBody>
      </p:sp>
      <p:sp>
        <p:nvSpPr>
          <p:cNvPr id="19" name="Shape 17"/>
          <p:cNvSpPr/>
          <p:nvPr/>
        </p:nvSpPr>
        <p:spPr>
          <a:xfrm>
            <a:off x="5907024" y="1737360"/>
            <a:ext cx="2505456" cy="1133856"/>
          </a:xfrm>
          <a:prstGeom prst="roundRect">
            <a:avLst>
              <a:gd name="adj" fmla="val 4032"/>
            </a:avLst>
          </a:prstGeom>
          <a:solidFill>
            <a:srgbClr val="FFFFFF"/>
          </a:solidFill>
          <a:ln w="12700">
            <a:solidFill>
              <a:srgbClr val="E4E1DB"/>
            </a:solidFill>
            <a:prstDash val="solid"/>
          </a:ln>
        </p:spPr>
      </p:sp>
      <p:sp>
        <p:nvSpPr>
          <p:cNvPr id="20" name="Shape 18"/>
          <p:cNvSpPr/>
          <p:nvPr/>
        </p:nvSpPr>
        <p:spPr>
          <a:xfrm>
            <a:off x="5907024" y="1737360"/>
            <a:ext cx="50292" cy="1133856"/>
          </a:xfrm>
          <a:prstGeom prst="rect">
            <a:avLst/>
          </a:prstGeom>
          <a:solidFill>
            <a:srgbClr val="0F766E"/>
          </a:solidFill>
          <a:ln/>
        </p:spPr>
      </p:sp>
      <p:sp>
        <p:nvSpPr>
          <p:cNvPr id="21" name="Text 19"/>
          <p:cNvSpPr/>
          <p:nvPr/>
        </p:nvSpPr>
        <p:spPr>
          <a:xfrm>
            <a:off x="6126480" y="1865376"/>
            <a:ext cx="2139696" cy="256032"/>
          </a:xfrm>
          <a:prstGeom prst="rect">
            <a:avLst/>
          </a:prstGeom>
          <a:noFill/>
          <a:ln/>
        </p:spPr>
        <p:txBody>
          <a:bodyPr wrap="square" rtlCol="0" anchor="ctr"/>
          <a:lstStyle/>
          <a:p>
            <a:pPr indent="0" marL="0">
              <a:buNone/>
            </a:pPr>
            <a:r>
              <a:rPr lang="en-US" sz="1250" b="1" dirty="0">
                <a:solidFill>
                  <a:srgbClr val="12151C"/>
                </a:solidFill>
                <a:latin typeface="Segoe UI" pitchFamily="34" charset="0"/>
                <a:ea typeface="Segoe UI" pitchFamily="34" charset="-122"/>
                <a:cs typeface="Segoe UI" pitchFamily="34" charset="-120"/>
              </a:rPr>
              <a:t>C# 14</a:t>
            </a:r>
            <a:endParaRPr lang="en-US" sz="1250" dirty="0"/>
          </a:p>
        </p:txBody>
      </p:sp>
      <p:sp>
        <p:nvSpPr>
          <p:cNvPr id="22" name="Text 20"/>
          <p:cNvSpPr/>
          <p:nvPr/>
        </p:nvSpPr>
        <p:spPr>
          <a:xfrm>
            <a:off x="6126480" y="2139696"/>
            <a:ext cx="2139696" cy="201168"/>
          </a:xfrm>
          <a:prstGeom prst="rect">
            <a:avLst/>
          </a:prstGeom>
          <a:noFill/>
          <a:ln/>
        </p:spPr>
        <p:txBody>
          <a:bodyPr wrap="square" rtlCol="0" anchor="ctr"/>
          <a:lstStyle/>
          <a:p>
            <a:pPr indent="0" marL="0">
              <a:buNone/>
            </a:pPr>
            <a:r>
              <a:rPr lang="en-US" sz="900" dirty="0">
                <a:solidFill>
                  <a:srgbClr val="0F766E"/>
                </a:solidFill>
                <a:latin typeface="Segoe UI" pitchFamily="34" charset="0"/>
                <a:ea typeface="Segoe UI" pitchFamily="34" charset="-122"/>
                <a:cs typeface="Segoe UI" pitchFamily="34" charset="-120"/>
              </a:rPr>
              <a:t>Language</a:t>
            </a:r>
            <a:endParaRPr lang="en-US" sz="900" dirty="0"/>
          </a:p>
        </p:txBody>
      </p:sp>
      <p:sp>
        <p:nvSpPr>
          <p:cNvPr id="23" name="Text 21"/>
          <p:cNvSpPr/>
          <p:nvPr/>
        </p:nvSpPr>
        <p:spPr>
          <a:xfrm>
            <a:off x="6126480" y="2359152"/>
            <a:ext cx="2121408" cy="438912"/>
          </a:xfrm>
          <a:prstGeom prst="rect">
            <a:avLst/>
          </a:prstGeom>
          <a:noFill/>
          <a:ln/>
        </p:spPr>
        <p:txBody>
          <a:bodyPr wrap="square" rtlCol="0" anchor="ctr"/>
          <a:lstStyle/>
          <a:p>
            <a:pPr indent="0" marL="0">
              <a:lnSpc>
                <a:spcPct val="110000"/>
              </a:lnSpc>
              <a:buNone/>
            </a:pPr>
            <a:r>
              <a:rPr lang="en-US" sz="850" dirty="0">
                <a:solidFill>
                  <a:srgbClr val="5B6472"/>
                </a:solidFill>
                <a:latin typeface="Segoe UI" pitchFamily="34" charset="0"/>
                <a:ea typeface="Segoe UI" pitchFamily="34" charset="-122"/>
                <a:cs typeface="Segoe UI" pitchFamily="34" charset="-120"/>
              </a:rPr>
              <a:t>Records, required members, nullable reference types</a:t>
            </a:r>
            <a:endParaRPr lang="en-US" sz="850" dirty="0"/>
          </a:p>
        </p:txBody>
      </p:sp>
      <p:sp>
        <p:nvSpPr>
          <p:cNvPr id="24" name="Shape 22"/>
          <p:cNvSpPr/>
          <p:nvPr/>
        </p:nvSpPr>
        <p:spPr>
          <a:xfrm>
            <a:off x="566928" y="3035808"/>
            <a:ext cx="2505456" cy="1133856"/>
          </a:xfrm>
          <a:prstGeom prst="roundRect">
            <a:avLst>
              <a:gd name="adj" fmla="val 4032"/>
            </a:avLst>
          </a:prstGeom>
          <a:solidFill>
            <a:srgbClr val="FFFFFF"/>
          </a:solidFill>
          <a:ln w="12700">
            <a:solidFill>
              <a:srgbClr val="E4E1DB"/>
            </a:solidFill>
            <a:prstDash val="solid"/>
          </a:ln>
        </p:spPr>
      </p:sp>
      <p:sp>
        <p:nvSpPr>
          <p:cNvPr id="25" name="Shape 23"/>
          <p:cNvSpPr/>
          <p:nvPr/>
        </p:nvSpPr>
        <p:spPr>
          <a:xfrm>
            <a:off x="566928" y="3035808"/>
            <a:ext cx="50292" cy="1133856"/>
          </a:xfrm>
          <a:prstGeom prst="rect">
            <a:avLst/>
          </a:prstGeom>
          <a:solidFill>
            <a:srgbClr val="0F766E"/>
          </a:solidFill>
          <a:ln/>
        </p:spPr>
      </p:sp>
      <p:sp>
        <p:nvSpPr>
          <p:cNvPr id="26" name="Text 24"/>
          <p:cNvSpPr/>
          <p:nvPr/>
        </p:nvSpPr>
        <p:spPr>
          <a:xfrm>
            <a:off x="786384" y="3163824"/>
            <a:ext cx="2139696" cy="256032"/>
          </a:xfrm>
          <a:prstGeom prst="rect">
            <a:avLst/>
          </a:prstGeom>
          <a:noFill/>
          <a:ln/>
        </p:spPr>
        <p:txBody>
          <a:bodyPr wrap="square" rtlCol="0" anchor="ctr"/>
          <a:lstStyle/>
          <a:p>
            <a:pPr indent="0" marL="0">
              <a:buNone/>
            </a:pPr>
            <a:r>
              <a:rPr lang="en-US" sz="1250" b="1" dirty="0">
                <a:solidFill>
                  <a:srgbClr val="12151C"/>
                </a:solidFill>
                <a:latin typeface="Segoe UI" pitchFamily="34" charset="0"/>
                <a:ea typeface="Segoe UI" pitchFamily="34" charset="-122"/>
                <a:cs typeface="Segoe UI" pitchFamily="34" charset="-120"/>
              </a:rPr>
              <a:t>Hand-written CSS</a:t>
            </a:r>
            <a:endParaRPr lang="en-US" sz="1250" dirty="0"/>
          </a:p>
        </p:txBody>
      </p:sp>
      <p:sp>
        <p:nvSpPr>
          <p:cNvPr id="27" name="Text 25"/>
          <p:cNvSpPr/>
          <p:nvPr/>
        </p:nvSpPr>
        <p:spPr>
          <a:xfrm>
            <a:off x="786384" y="3438144"/>
            <a:ext cx="2139696" cy="201168"/>
          </a:xfrm>
          <a:prstGeom prst="rect">
            <a:avLst/>
          </a:prstGeom>
          <a:noFill/>
          <a:ln/>
        </p:spPr>
        <p:txBody>
          <a:bodyPr wrap="square" rtlCol="0" anchor="ctr"/>
          <a:lstStyle/>
          <a:p>
            <a:pPr indent="0" marL="0">
              <a:buNone/>
            </a:pPr>
            <a:r>
              <a:rPr lang="en-US" sz="900" dirty="0">
                <a:solidFill>
                  <a:srgbClr val="0F766E"/>
                </a:solidFill>
                <a:latin typeface="Segoe UI" pitchFamily="34" charset="0"/>
                <a:ea typeface="Segoe UI" pitchFamily="34" charset="-122"/>
                <a:cs typeface="Segoe UI" pitchFamily="34" charset="-120"/>
              </a:rPr>
              <a:t>Design system</a:t>
            </a:r>
            <a:endParaRPr lang="en-US" sz="900" dirty="0"/>
          </a:p>
        </p:txBody>
      </p:sp>
      <p:sp>
        <p:nvSpPr>
          <p:cNvPr id="28" name="Text 26"/>
          <p:cNvSpPr/>
          <p:nvPr/>
        </p:nvSpPr>
        <p:spPr>
          <a:xfrm>
            <a:off x="786384" y="3657600"/>
            <a:ext cx="2121408" cy="438912"/>
          </a:xfrm>
          <a:prstGeom prst="rect">
            <a:avLst/>
          </a:prstGeom>
          <a:noFill/>
          <a:ln/>
        </p:spPr>
        <p:txBody>
          <a:bodyPr wrap="square" rtlCol="0" anchor="ctr"/>
          <a:lstStyle/>
          <a:p>
            <a:pPr indent="0" marL="0">
              <a:lnSpc>
                <a:spcPct val="110000"/>
              </a:lnSpc>
              <a:buNone/>
            </a:pPr>
            <a:r>
              <a:rPr lang="en-US" sz="850" dirty="0">
                <a:solidFill>
                  <a:srgbClr val="5B6472"/>
                </a:solidFill>
                <a:latin typeface="Segoe UI" pitchFamily="34" charset="0"/>
                <a:ea typeface="Segoe UI" pitchFamily="34" charset="-122"/>
                <a:cs typeface="Segoe UI" pitchFamily="34" charset="-120"/>
              </a:rPr>
              <a:t>53 tokens, 2 files, no framework</a:t>
            </a:r>
            <a:endParaRPr lang="en-US" sz="850" dirty="0"/>
          </a:p>
        </p:txBody>
      </p:sp>
      <p:sp>
        <p:nvSpPr>
          <p:cNvPr id="29" name="Shape 27"/>
          <p:cNvSpPr/>
          <p:nvPr/>
        </p:nvSpPr>
        <p:spPr>
          <a:xfrm>
            <a:off x="3236976" y="3035808"/>
            <a:ext cx="2505456" cy="1133856"/>
          </a:xfrm>
          <a:prstGeom prst="roundRect">
            <a:avLst>
              <a:gd name="adj" fmla="val 4032"/>
            </a:avLst>
          </a:prstGeom>
          <a:solidFill>
            <a:srgbClr val="FFFFFF"/>
          </a:solidFill>
          <a:ln w="12700">
            <a:solidFill>
              <a:srgbClr val="E4E1DB"/>
            </a:solidFill>
            <a:prstDash val="solid"/>
          </a:ln>
        </p:spPr>
      </p:sp>
      <p:sp>
        <p:nvSpPr>
          <p:cNvPr id="30" name="Shape 28"/>
          <p:cNvSpPr/>
          <p:nvPr/>
        </p:nvSpPr>
        <p:spPr>
          <a:xfrm>
            <a:off x="3236976" y="3035808"/>
            <a:ext cx="50292" cy="1133856"/>
          </a:xfrm>
          <a:prstGeom prst="rect">
            <a:avLst/>
          </a:prstGeom>
          <a:solidFill>
            <a:srgbClr val="0F766E"/>
          </a:solidFill>
          <a:ln/>
        </p:spPr>
      </p:sp>
      <p:sp>
        <p:nvSpPr>
          <p:cNvPr id="31" name="Text 29"/>
          <p:cNvSpPr/>
          <p:nvPr/>
        </p:nvSpPr>
        <p:spPr>
          <a:xfrm>
            <a:off x="3456432" y="3163824"/>
            <a:ext cx="2139696" cy="256032"/>
          </a:xfrm>
          <a:prstGeom prst="rect">
            <a:avLst/>
          </a:prstGeom>
          <a:noFill/>
          <a:ln/>
        </p:spPr>
        <p:txBody>
          <a:bodyPr wrap="square" rtlCol="0" anchor="ctr"/>
          <a:lstStyle/>
          <a:p>
            <a:pPr indent="0" marL="0">
              <a:buNone/>
            </a:pPr>
            <a:r>
              <a:rPr lang="en-US" sz="1250" b="1" dirty="0">
                <a:solidFill>
                  <a:srgbClr val="12151C"/>
                </a:solidFill>
                <a:latin typeface="Segoe UI" pitchFamily="34" charset="0"/>
                <a:ea typeface="Segoe UI" pitchFamily="34" charset="-122"/>
                <a:cs typeface="Segoe UI" pitchFamily="34" charset="-120"/>
              </a:rPr>
              <a:t>Inline SVG</a:t>
            </a:r>
            <a:endParaRPr lang="en-US" sz="1250" dirty="0"/>
          </a:p>
        </p:txBody>
      </p:sp>
      <p:sp>
        <p:nvSpPr>
          <p:cNvPr id="32" name="Text 30"/>
          <p:cNvSpPr/>
          <p:nvPr/>
        </p:nvSpPr>
        <p:spPr>
          <a:xfrm>
            <a:off x="3456432" y="3438144"/>
            <a:ext cx="2139696" cy="201168"/>
          </a:xfrm>
          <a:prstGeom prst="rect">
            <a:avLst/>
          </a:prstGeom>
          <a:noFill/>
          <a:ln/>
        </p:spPr>
        <p:txBody>
          <a:bodyPr wrap="square" rtlCol="0" anchor="ctr"/>
          <a:lstStyle/>
          <a:p>
            <a:pPr indent="0" marL="0">
              <a:buNone/>
            </a:pPr>
            <a:r>
              <a:rPr lang="en-US" sz="900" dirty="0">
                <a:solidFill>
                  <a:srgbClr val="0F766E"/>
                </a:solidFill>
                <a:latin typeface="Segoe UI" pitchFamily="34" charset="0"/>
                <a:ea typeface="Segoe UI" pitchFamily="34" charset="-122"/>
                <a:cs typeface="Segoe UI" pitchFamily="34" charset="-120"/>
              </a:rPr>
              <a:t>Icons and logo</a:t>
            </a:r>
            <a:endParaRPr lang="en-US" sz="900" dirty="0"/>
          </a:p>
        </p:txBody>
      </p:sp>
      <p:sp>
        <p:nvSpPr>
          <p:cNvPr id="33" name="Text 31"/>
          <p:cNvSpPr/>
          <p:nvPr/>
        </p:nvSpPr>
        <p:spPr>
          <a:xfrm>
            <a:off x="3456432" y="3657600"/>
            <a:ext cx="2121408" cy="438912"/>
          </a:xfrm>
          <a:prstGeom prst="rect">
            <a:avLst/>
          </a:prstGeom>
          <a:noFill/>
          <a:ln/>
        </p:spPr>
        <p:txBody>
          <a:bodyPr wrap="square" rtlCol="0" anchor="ctr"/>
          <a:lstStyle/>
          <a:p>
            <a:pPr indent="0" marL="0">
              <a:lnSpc>
                <a:spcPct val="110000"/>
              </a:lnSpc>
              <a:buNone/>
            </a:pPr>
            <a:r>
              <a:rPr lang="en-US" sz="850" dirty="0">
                <a:solidFill>
                  <a:srgbClr val="5B6472"/>
                </a:solidFill>
                <a:latin typeface="Segoe UI" pitchFamily="34" charset="0"/>
                <a:ea typeface="Segoe UI" pitchFamily="34" charset="-122"/>
                <a:cs typeface="Segoe UI" pitchFamily="34" charset="-120"/>
              </a:rPr>
              <a:t>34 icons, one component, no icon package</a:t>
            </a:r>
            <a:endParaRPr lang="en-US" sz="850" dirty="0"/>
          </a:p>
        </p:txBody>
      </p:sp>
      <p:sp>
        <p:nvSpPr>
          <p:cNvPr id="34" name="Shape 32"/>
          <p:cNvSpPr/>
          <p:nvPr/>
        </p:nvSpPr>
        <p:spPr>
          <a:xfrm>
            <a:off x="5907024" y="3035808"/>
            <a:ext cx="2505456" cy="1133856"/>
          </a:xfrm>
          <a:prstGeom prst="roundRect">
            <a:avLst>
              <a:gd name="adj" fmla="val 4032"/>
            </a:avLst>
          </a:prstGeom>
          <a:solidFill>
            <a:srgbClr val="FFFFFF"/>
          </a:solidFill>
          <a:ln w="12700">
            <a:solidFill>
              <a:srgbClr val="E4E1DB"/>
            </a:solidFill>
            <a:prstDash val="solid"/>
          </a:ln>
        </p:spPr>
      </p:sp>
      <p:sp>
        <p:nvSpPr>
          <p:cNvPr id="35" name="Shape 33"/>
          <p:cNvSpPr/>
          <p:nvPr/>
        </p:nvSpPr>
        <p:spPr>
          <a:xfrm>
            <a:off x="5907024" y="3035808"/>
            <a:ext cx="50292" cy="1133856"/>
          </a:xfrm>
          <a:prstGeom prst="rect">
            <a:avLst/>
          </a:prstGeom>
          <a:solidFill>
            <a:srgbClr val="0F766E"/>
          </a:solidFill>
          <a:ln/>
        </p:spPr>
      </p:sp>
      <p:sp>
        <p:nvSpPr>
          <p:cNvPr id="36" name="Text 34"/>
          <p:cNvSpPr/>
          <p:nvPr/>
        </p:nvSpPr>
        <p:spPr>
          <a:xfrm>
            <a:off x="6126480" y="3163824"/>
            <a:ext cx="2139696" cy="256032"/>
          </a:xfrm>
          <a:prstGeom prst="rect">
            <a:avLst/>
          </a:prstGeom>
          <a:noFill/>
          <a:ln/>
        </p:spPr>
        <p:txBody>
          <a:bodyPr wrap="square" rtlCol="0" anchor="ctr"/>
          <a:lstStyle/>
          <a:p>
            <a:pPr indent="0" marL="0">
              <a:buNone/>
            </a:pPr>
            <a:r>
              <a:rPr lang="en-US" sz="1250" b="1" dirty="0">
                <a:solidFill>
                  <a:srgbClr val="12151C"/>
                </a:solidFill>
                <a:latin typeface="Segoe UI" pitchFamily="34" charset="0"/>
                <a:ea typeface="Segoe UI" pitchFamily="34" charset="-122"/>
                <a:cs typeface="Segoe UI" pitchFamily="34" charset="-120"/>
              </a:rPr>
              <a:t>~6 KB JavaScript</a:t>
            </a:r>
            <a:endParaRPr lang="en-US" sz="1250" dirty="0"/>
          </a:p>
        </p:txBody>
      </p:sp>
      <p:sp>
        <p:nvSpPr>
          <p:cNvPr id="37" name="Text 35"/>
          <p:cNvSpPr/>
          <p:nvPr/>
        </p:nvSpPr>
        <p:spPr>
          <a:xfrm>
            <a:off x="6126480" y="3438144"/>
            <a:ext cx="2139696" cy="201168"/>
          </a:xfrm>
          <a:prstGeom prst="rect">
            <a:avLst/>
          </a:prstGeom>
          <a:noFill/>
          <a:ln/>
        </p:spPr>
        <p:txBody>
          <a:bodyPr wrap="square" rtlCol="0" anchor="ctr"/>
          <a:lstStyle/>
          <a:p>
            <a:pPr indent="0" marL="0">
              <a:buNone/>
            </a:pPr>
            <a:r>
              <a:rPr lang="en-US" sz="900" dirty="0">
                <a:solidFill>
                  <a:srgbClr val="0F766E"/>
                </a:solidFill>
                <a:latin typeface="Segoe UI" pitchFamily="34" charset="0"/>
                <a:ea typeface="Segoe UI" pitchFamily="34" charset="-122"/>
                <a:cs typeface="Segoe UI" pitchFamily="34" charset="-120"/>
              </a:rPr>
              <a:t>Two enhancements</a:t>
            </a:r>
            <a:endParaRPr lang="en-US" sz="900" dirty="0"/>
          </a:p>
        </p:txBody>
      </p:sp>
      <p:sp>
        <p:nvSpPr>
          <p:cNvPr id="38" name="Text 36"/>
          <p:cNvSpPr/>
          <p:nvPr/>
        </p:nvSpPr>
        <p:spPr>
          <a:xfrm>
            <a:off x="6126480" y="3657600"/>
            <a:ext cx="2121408" cy="438912"/>
          </a:xfrm>
          <a:prstGeom prst="rect">
            <a:avLst/>
          </a:prstGeom>
          <a:noFill/>
          <a:ln/>
        </p:spPr>
        <p:txBody>
          <a:bodyPr wrap="square" rtlCol="0" anchor="ctr"/>
          <a:lstStyle/>
          <a:p>
            <a:pPr indent="0" marL="0">
              <a:lnSpc>
                <a:spcPct val="110000"/>
              </a:lnSpc>
              <a:buNone/>
            </a:pPr>
            <a:r>
              <a:rPr lang="en-US" sz="850" dirty="0">
                <a:solidFill>
                  <a:srgbClr val="5B6472"/>
                </a:solidFill>
                <a:latin typeface="Segoe UI" pitchFamily="34" charset="0"/>
                <a:ea typeface="Segoe UI" pitchFamily="34" charset="-122"/>
                <a:cs typeface="Segoe UI" pitchFamily="34" charset="-120"/>
              </a:rPr>
              <a:t>Sticky header, opt-in scroll reveal</a:t>
            </a:r>
            <a:endParaRPr lang="en-US" sz="850" dirty="0"/>
          </a:p>
        </p:txBody>
      </p:sp>
      <p:sp>
        <p:nvSpPr>
          <p:cNvPr id="39" name="Text 37"/>
          <p:cNvSpPr/>
          <p:nvPr/>
        </p:nvSpPr>
        <p:spPr>
          <a:xfrm>
            <a:off x="566928" y="4370832"/>
            <a:ext cx="8010144" cy="292608"/>
          </a:xfrm>
          <a:prstGeom prst="rect">
            <a:avLst/>
          </a:prstGeom>
          <a:noFill/>
          <a:ln/>
        </p:spPr>
        <p:txBody>
          <a:bodyPr wrap="square" rtlCol="0" anchor="ctr"/>
          <a:lstStyle/>
          <a:p>
            <a:pPr indent="0" marL="0">
              <a:buNone/>
            </a:pPr>
            <a:r>
              <a:rPr lang="en-US" sz="850" i="1" dirty="0">
                <a:solidFill>
                  <a:srgbClr val="5B6472"/>
                </a:solidFill>
                <a:latin typeface="Segoe UI" pitchFamily="34" charset="0"/>
                <a:ea typeface="Segoe UI" pitchFamily="34" charset="-122"/>
                <a:cs typeface="Segoe UI" pitchFamily="34" charset="-120"/>
              </a:rPr>
              <a:t>Not used, on purpose:  Bootstrap / Tailwind  ·  jQuery  ·  icon fonts  ·  web fonts  ·  CSS preprocessor  ·  JS bundler  ·  SPA framework  ·  CMS  ·  database  ·  CDN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566928" y="4668012"/>
            <a:ext cx="8010144" cy="10973"/>
          </a:xfrm>
          <a:prstGeom prst="rect">
            <a:avLst/>
          </a:prstGeom>
          <a:solidFill>
            <a:srgbClr val="E4E1DB"/>
          </a:solidFill>
          <a:ln/>
        </p:spPr>
      </p:sp>
      <p:sp>
        <p:nvSpPr>
          <p:cNvPr id="3" name="Text 1"/>
          <p:cNvSpPr/>
          <p:nvPr/>
        </p:nvSpPr>
        <p:spPr>
          <a:xfrm>
            <a:off x="566928" y="4722876"/>
            <a:ext cx="6408115" cy="274320"/>
          </a:xfrm>
          <a:prstGeom prst="rect">
            <a:avLst/>
          </a:prstGeom>
          <a:noFill/>
          <a:ln/>
        </p:spPr>
        <p:txBody>
          <a:bodyPr wrap="square" rtlCol="0" anchor="ctr"/>
          <a:lstStyle/>
          <a:p>
            <a:pPr indent="0" marL="0">
              <a:buNone/>
            </a:pPr>
            <a:r>
              <a:rPr lang="en-US" sz="800" dirty="0">
                <a:solidFill>
                  <a:srgbClr val="5B6472"/>
                </a:solidFill>
                <a:latin typeface="Segoe UI" pitchFamily="34" charset="0"/>
                <a:ea typeface="Segoe UI" pitchFamily="34" charset="-122"/>
                <a:cs typeface="Segoe UI" pitchFamily="34" charset="-120"/>
              </a:rPr>
              <a:t>Polypus  |  Architecture of the marketing website  |  owned by Axonite</a:t>
            </a:r>
            <a:endParaRPr lang="en-US" sz="800" dirty="0"/>
          </a:p>
        </p:txBody>
      </p:sp>
      <p:sp>
        <p:nvSpPr>
          <p:cNvPr id="4" name="Text 2"/>
          <p:cNvSpPr/>
          <p:nvPr/>
        </p:nvSpPr>
        <p:spPr>
          <a:xfrm>
            <a:off x="8028432" y="4722876"/>
            <a:ext cx="548640" cy="274320"/>
          </a:xfrm>
          <a:prstGeom prst="rect">
            <a:avLst/>
          </a:prstGeom>
          <a:noFill/>
          <a:ln/>
        </p:spPr>
        <p:txBody>
          <a:bodyPr wrap="square" rtlCol="0" anchor="ctr"/>
          <a:lstStyle/>
          <a:p>
            <a:pPr algn="r" indent="0" marL="0">
              <a:buNone/>
            </a:pPr>
            <a:r>
              <a:rPr lang="en-US" sz="800" dirty="0">
                <a:solidFill>
                  <a:srgbClr val="5B6472"/>
                </a:solidFill>
                <a:latin typeface="Consolas" pitchFamily="34" charset="0"/>
                <a:ea typeface="Consolas" pitchFamily="34" charset="-122"/>
                <a:cs typeface="Consolas" pitchFamily="34" charset="-120"/>
              </a:rPr>
              <a:t>5</a:t>
            </a:r>
            <a:endParaRPr lang="en-US" sz="800" dirty="0"/>
          </a:p>
        </p:txBody>
      </p:sp>
      <p:sp>
        <p:nvSpPr>
          <p:cNvPr id="5" name="Shape 3"/>
          <p:cNvSpPr/>
          <p:nvPr/>
        </p:nvSpPr>
        <p:spPr>
          <a:xfrm>
            <a:off x="566928" y="384048"/>
            <a:ext cx="420624" cy="50292"/>
          </a:xfrm>
          <a:prstGeom prst="rect">
            <a:avLst/>
          </a:prstGeom>
          <a:solidFill>
            <a:srgbClr val="0F766E"/>
          </a:solidFill>
          <a:ln/>
        </p:spPr>
      </p:sp>
      <p:sp>
        <p:nvSpPr>
          <p:cNvPr id="6" name="Text 4"/>
          <p:cNvSpPr/>
          <p:nvPr/>
        </p:nvSpPr>
        <p:spPr>
          <a:xfrm>
            <a:off x="566928" y="548640"/>
            <a:ext cx="8010144" cy="201168"/>
          </a:xfrm>
          <a:prstGeom prst="rect">
            <a:avLst/>
          </a:prstGeom>
          <a:noFill/>
          <a:ln/>
        </p:spPr>
        <p:txBody>
          <a:bodyPr wrap="square" rtlCol="0" anchor="ctr"/>
          <a:lstStyle/>
          <a:p>
            <a:pPr indent="0" marL="0">
              <a:buNone/>
            </a:pPr>
            <a:r>
              <a:rPr lang="en-US" sz="900" b="1" spc="140" kern="0" dirty="0">
                <a:solidFill>
                  <a:srgbClr val="0F766E"/>
                </a:solidFill>
                <a:latin typeface="Segoe UI" pitchFamily="34" charset="0"/>
                <a:ea typeface="Segoe UI" pitchFamily="34" charset="-122"/>
                <a:cs typeface="Segoe UI" pitchFamily="34" charset="-120"/>
              </a:rPr>
              <a:t>ARCHITECTURE</a:t>
            </a:r>
            <a:endParaRPr lang="en-US" sz="900" dirty="0"/>
          </a:p>
        </p:txBody>
      </p:sp>
      <p:sp>
        <p:nvSpPr>
          <p:cNvPr id="7" name="Text 5"/>
          <p:cNvSpPr/>
          <p:nvPr/>
        </p:nvSpPr>
        <p:spPr>
          <a:xfrm>
            <a:off x="566928" y="786384"/>
            <a:ext cx="8010144" cy="420624"/>
          </a:xfrm>
          <a:prstGeom prst="rect">
            <a:avLst/>
          </a:prstGeom>
          <a:noFill/>
          <a:ln/>
        </p:spPr>
        <p:txBody>
          <a:bodyPr wrap="square" rtlCol="0" anchor="ctr"/>
          <a:lstStyle/>
          <a:p>
            <a:pPr indent="0" marL="0">
              <a:buNone/>
            </a:pPr>
            <a:r>
              <a:rPr lang="en-US" sz="2400" dirty="0">
                <a:solidFill>
                  <a:srgbClr val="12151C"/>
                </a:solidFill>
                <a:latin typeface="Georgia" pitchFamily="34" charset="0"/>
                <a:ea typeface="Georgia" pitchFamily="34" charset="-122"/>
                <a:cs typeface="Georgia" pitchFamily="34" charset="-120"/>
              </a:rPr>
              <a:t>One-way dependency between four layers</a:t>
            </a:r>
            <a:endParaRPr lang="en-US" sz="2400" dirty="0"/>
          </a:p>
        </p:txBody>
      </p:sp>
      <p:sp>
        <p:nvSpPr>
          <p:cNvPr id="8" name="Text 6"/>
          <p:cNvSpPr/>
          <p:nvPr/>
        </p:nvSpPr>
        <p:spPr>
          <a:xfrm>
            <a:off x="566928" y="1243584"/>
            <a:ext cx="8010144" cy="310896"/>
          </a:xfrm>
          <a:prstGeom prst="rect">
            <a:avLst/>
          </a:prstGeom>
          <a:noFill/>
          <a:ln/>
        </p:spPr>
        <p:txBody>
          <a:bodyPr wrap="square" rtlCol="0" anchor="t"/>
          <a:lstStyle/>
          <a:p>
            <a:pPr indent="0" marL="0">
              <a:buNone/>
            </a:pPr>
            <a:r>
              <a:rPr lang="en-US" sz="1050" dirty="0">
                <a:solidFill>
                  <a:srgbClr val="3B4250"/>
                </a:solidFill>
                <a:latin typeface="Segoe UI" pitchFamily="34" charset="0"/>
                <a:ea typeface="Segoe UI" pitchFamily="34" charset="-122"/>
                <a:cs typeface="Segoe UI" pitchFamily="34" charset="-120"/>
              </a:rPr>
              <a:t>Content and rules sit at the bottom; pages render at the top. A page never holds business data.</a:t>
            </a:r>
            <a:endParaRPr lang="en-US" sz="1050" dirty="0"/>
          </a:p>
        </p:txBody>
      </p:sp>
      <p:sp>
        <p:nvSpPr>
          <p:cNvPr id="9" name="Shape 7"/>
          <p:cNvSpPr/>
          <p:nvPr/>
        </p:nvSpPr>
        <p:spPr>
          <a:xfrm>
            <a:off x="1133856" y="1755648"/>
            <a:ext cx="7443216" cy="566928"/>
          </a:xfrm>
          <a:prstGeom prst="roundRect">
            <a:avLst>
              <a:gd name="adj" fmla="val 6452"/>
            </a:avLst>
          </a:prstGeom>
          <a:solidFill>
            <a:srgbClr val="FFFFFF"/>
          </a:solidFill>
          <a:ln w="12700">
            <a:solidFill>
              <a:srgbClr val="E4E1DB"/>
            </a:solidFill>
            <a:prstDash val="solid"/>
          </a:ln>
        </p:spPr>
      </p:sp>
      <p:sp>
        <p:nvSpPr>
          <p:cNvPr id="10" name="Shape 8"/>
          <p:cNvSpPr/>
          <p:nvPr/>
        </p:nvSpPr>
        <p:spPr>
          <a:xfrm>
            <a:off x="1133856" y="1755648"/>
            <a:ext cx="54864" cy="566928"/>
          </a:xfrm>
          <a:prstGeom prst="rect">
            <a:avLst/>
          </a:prstGeom>
          <a:solidFill>
            <a:srgbClr val="0F766E"/>
          </a:solidFill>
          <a:ln/>
        </p:spPr>
      </p:sp>
      <p:sp>
        <p:nvSpPr>
          <p:cNvPr id="11" name="Text 9"/>
          <p:cNvSpPr/>
          <p:nvPr/>
        </p:nvSpPr>
        <p:spPr>
          <a:xfrm>
            <a:off x="1335024" y="1819656"/>
            <a:ext cx="2834640" cy="237744"/>
          </a:xfrm>
          <a:prstGeom prst="rect">
            <a:avLst/>
          </a:prstGeom>
          <a:noFill/>
          <a:ln/>
        </p:spPr>
        <p:txBody>
          <a:bodyPr wrap="square" rtlCol="0" anchor="ctr"/>
          <a:lstStyle/>
          <a:p>
            <a:pPr indent="0" marL="0">
              <a:buNone/>
            </a:pPr>
            <a:r>
              <a:rPr lang="en-US" sz="1100" b="1" dirty="0">
                <a:solidFill>
                  <a:srgbClr val="12151C"/>
                </a:solidFill>
                <a:latin typeface="Segoe UI" pitchFamily="34" charset="0"/>
                <a:ea typeface="Segoe UI" pitchFamily="34" charset="-122"/>
                <a:cs typeface="Segoe UI" pitchFamily="34" charset="-120"/>
              </a:rPr>
              <a:t>Components / Pages</a:t>
            </a:r>
            <a:endParaRPr lang="en-US" sz="1100" dirty="0"/>
          </a:p>
        </p:txBody>
      </p:sp>
      <p:sp>
        <p:nvSpPr>
          <p:cNvPr id="12" name="Text 10"/>
          <p:cNvSpPr/>
          <p:nvPr/>
        </p:nvSpPr>
        <p:spPr>
          <a:xfrm>
            <a:off x="1335024" y="2048256"/>
            <a:ext cx="5029200" cy="219456"/>
          </a:xfrm>
          <a:prstGeom prst="rect">
            <a:avLst/>
          </a:prstGeom>
          <a:noFill/>
          <a:ln/>
        </p:spPr>
        <p:txBody>
          <a:bodyPr wrap="square" rtlCol="0" anchor="ctr"/>
          <a:lstStyle/>
          <a:p>
            <a:pPr indent="0" marL="0">
              <a:buNone/>
            </a:pPr>
            <a:r>
              <a:rPr lang="en-US" sz="740" dirty="0">
                <a:solidFill>
                  <a:srgbClr val="5B6472"/>
                </a:solidFill>
                <a:latin typeface="Consolas" pitchFamily="34" charset="0"/>
                <a:ea typeface="Consolas" pitchFamily="34" charset="-122"/>
                <a:cs typeface="Consolas" pitchFamily="34" charset="-120"/>
              </a:rPr>
              <a:t>Pages/Home.razor  ·  Pages/Contact.razor  ·  Pages/Plans.razor</a:t>
            </a:r>
            <a:endParaRPr lang="en-US" sz="740" dirty="0"/>
          </a:p>
        </p:txBody>
      </p:sp>
      <p:sp>
        <p:nvSpPr>
          <p:cNvPr id="13" name="Text 11"/>
          <p:cNvSpPr/>
          <p:nvPr/>
        </p:nvSpPr>
        <p:spPr>
          <a:xfrm>
            <a:off x="6656832" y="1755648"/>
            <a:ext cx="1810512" cy="566928"/>
          </a:xfrm>
          <a:prstGeom prst="rect">
            <a:avLst/>
          </a:prstGeom>
          <a:noFill/>
          <a:ln/>
        </p:spPr>
        <p:txBody>
          <a:bodyPr wrap="square" rtlCol="0" anchor="ctr"/>
          <a:lstStyle/>
          <a:p>
            <a:pPr algn="r" indent="0" marL="0">
              <a:buNone/>
            </a:pPr>
            <a:r>
              <a:rPr lang="en-US" sz="850" dirty="0">
                <a:solidFill>
                  <a:srgbClr val="0F766E"/>
                </a:solidFill>
                <a:latin typeface="Segoe UI" pitchFamily="34" charset="0"/>
                <a:ea typeface="Segoe UI" pitchFamily="34" charset="-122"/>
                <a:cs typeface="Segoe UI" pitchFamily="34" charset="-120"/>
              </a:rPr>
              <a:t>Routes and composition</a:t>
            </a:r>
            <a:endParaRPr lang="en-US" sz="850" dirty="0"/>
          </a:p>
        </p:txBody>
      </p:sp>
      <p:sp>
        <p:nvSpPr>
          <p:cNvPr id="14" name="Shape 12"/>
          <p:cNvSpPr/>
          <p:nvPr/>
        </p:nvSpPr>
        <p:spPr>
          <a:xfrm>
            <a:off x="1133856" y="2414016"/>
            <a:ext cx="7443216" cy="566928"/>
          </a:xfrm>
          <a:prstGeom prst="roundRect">
            <a:avLst>
              <a:gd name="adj" fmla="val 6452"/>
            </a:avLst>
          </a:prstGeom>
          <a:solidFill>
            <a:srgbClr val="FFFFFF"/>
          </a:solidFill>
          <a:ln w="12700">
            <a:solidFill>
              <a:srgbClr val="E4E1DB"/>
            </a:solidFill>
            <a:prstDash val="solid"/>
          </a:ln>
        </p:spPr>
      </p:sp>
      <p:sp>
        <p:nvSpPr>
          <p:cNvPr id="15" name="Shape 13"/>
          <p:cNvSpPr/>
          <p:nvPr/>
        </p:nvSpPr>
        <p:spPr>
          <a:xfrm>
            <a:off x="1133856" y="2414016"/>
            <a:ext cx="54864" cy="566928"/>
          </a:xfrm>
          <a:prstGeom prst="rect">
            <a:avLst/>
          </a:prstGeom>
          <a:solidFill>
            <a:srgbClr val="14B8A6"/>
          </a:solidFill>
          <a:ln/>
        </p:spPr>
      </p:sp>
      <p:sp>
        <p:nvSpPr>
          <p:cNvPr id="16" name="Text 14"/>
          <p:cNvSpPr/>
          <p:nvPr/>
        </p:nvSpPr>
        <p:spPr>
          <a:xfrm>
            <a:off x="1335024" y="2478024"/>
            <a:ext cx="2834640" cy="237744"/>
          </a:xfrm>
          <a:prstGeom prst="rect">
            <a:avLst/>
          </a:prstGeom>
          <a:noFill/>
          <a:ln/>
        </p:spPr>
        <p:txBody>
          <a:bodyPr wrap="square" rtlCol="0" anchor="ctr"/>
          <a:lstStyle/>
          <a:p>
            <a:pPr indent="0" marL="0">
              <a:buNone/>
            </a:pPr>
            <a:r>
              <a:rPr lang="en-US" sz="1100" b="1" dirty="0">
                <a:solidFill>
                  <a:srgbClr val="12151C"/>
                </a:solidFill>
                <a:latin typeface="Segoe UI" pitchFamily="34" charset="0"/>
                <a:ea typeface="Segoe UI" pitchFamily="34" charset="-122"/>
                <a:cs typeface="Segoe UI" pitchFamily="34" charset="-120"/>
              </a:rPr>
              <a:t>Components / Shared + Layout</a:t>
            </a:r>
            <a:endParaRPr lang="en-US" sz="1100" dirty="0"/>
          </a:p>
        </p:txBody>
      </p:sp>
      <p:sp>
        <p:nvSpPr>
          <p:cNvPr id="17" name="Text 15"/>
          <p:cNvSpPr/>
          <p:nvPr/>
        </p:nvSpPr>
        <p:spPr>
          <a:xfrm>
            <a:off x="1335024" y="2706624"/>
            <a:ext cx="5029200" cy="219456"/>
          </a:xfrm>
          <a:prstGeom prst="rect">
            <a:avLst/>
          </a:prstGeom>
          <a:noFill/>
          <a:ln/>
        </p:spPr>
        <p:txBody>
          <a:bodyPr wrap="square" rtlCol="0" anchor="ctr"/>
          <a:lstStyle/>
          <a:p>
            <a:pPr indent="0" marL="0">
              <a:buNone/>
            </a:pPr>
            <a:r>
              <a:rPr lang="en-US" sz="740" dirty="0">
                <a:solidFill>
                  <a:srgbClr val="5B6472"/>
                </a:solidFill>
                <a:latin typeface="Consolas" pitchFamily="34" charset="0"/>
                <a:ea typeface="Consolas" pitchFamily="34" charset="-122"/>
                <a:cs typeface="Consolas" pitchFamily="34" charset="-120"/>
              </a:rPr>
              <a:t>PlanCard  ·  AppIcon  ·  FaqList  ·  Header  ·  Footer</a:t>
            </a:r>
            <a:endParaRPr lang="en-US" sz="740" dirty="0"/>
          </a:p>
        </p:txBody>
      </p:sp>
      <p:sp>
        <p:nvSpPr>
          <p:cNvPr id="18" name="Text 16"/>
          <p:cNvSpPr/>
          <p:nvPr/>
        </p:nvSpPr>
        <p:spPr>
          <a:xfrm>
            <a:off x="6656832" y="2414016"/>
            <a:ext cx="1810512" cy="566928"/>
          </a:xfrm>
          <a:prstGeom prst="rect">
            <a:avLst/>
          </a:prstGeom>
          <a:noFill/>
          <a:ln/>
        </p:spPr>
        <p:txBody>
          <a:bodyPr wrap="square" rtlCol="0" anchor="ctr"/>
          <a:lstStyle/>
          <a:p>
            <a:pPr algn="r" indent="0" marL="0">
              <a:buNone/>
            </a:pPr>
            <a:r>
              <a:rPr lang="en-US" sz="850" dirty="0">
                <a:solidFill>
                  <a:srgbClr val="14B8A6"/>
                </a:solidFill>
                <a:latin typeface="Segoe UI" pitchFamily="34" charset="0"/>
                <a:ea typeface="Segoe UI" pitchFamily="34" charset="-122"/>
                <a:cs typeface="Segoe UI" pitchFamily="34" charset="-120"/>
              </a:rPr>
              <a:t>Reusable presentation</a:t>
            </a:r>
            <a:endParaRPr lang="en-US" sz="850" dirty="0"/>
          </a:p>
        </p:txBody>
      </p:sp>
      <p:sp>
        <p:nvSpPr>
          <p:cNvPr id="19" name="Shape 17"/>
          <p:cNvSpPr/>
          <p:nvPr/>
        </p:nvSpPr>
        <p:spPr>
          <a:xfrm>
            <a:off x="1133856" y="3072384"/>
            <a:ext cx="7443216" cy="566928"/>
          </a:xfrm>
          <a:prstGeom prst="roundRect">
            <a:avLst>
              <a:gd name="adj" fmla="val 6452"/>
            </a:avLst>
          </a:prstGeom>
          <a:solidFill>
            <a:srgbClr val="FFFFFF"/>
          </a:solidFill>
          <a:ln w="12700">
            <a:solidFill>
              <a:srgbClr val="E4E1DB"/>
            </a:solidFill>
            <a:prstDash val="solid"/>
          </a:ln>
        </p:spPr>
      </p:sp>
      <p:sp>
        <p:nvSpPr>
          <p:cNvPr id="20" name="Shape 18"/>
          <p:cNvSpPr/>
          <p:nvPr/>
        </p:nvSpPr>
        <p:spPr>
          <a:xfrm>
            <a:off x="1133856" y="3072384"/>
            <a:ext cx="54864" cy="566928"/>
          </a:xfrm>
          <a:prstGeom prst="rect">
            <a:avLst/>
          </a:prstGeom>
          <a:solidFill>
            <a:srgbClr val="B4894A"/>
          </a:solidFill>
          <a:ln/>
        </p:spPr>
      </p:sp>
      <p:sp>
        <p:nvSpPr>
          <p:cNvPr id="21" name="Text 19"/>
          <p:cNvSpPr/>
          <p:nvPr/>
        </p:nvSpPr>
        <p:spPr>
          <a:xfrm>
            <a:off x="1335024" y="3136392"/>
            <a:ext cx="2834640" cy="237744"/>
          </a:xfrm>
          <a:prstGeom prst="rect">
            <a:avLst/>
          </a:prstGeom>
          <a:noFill/>
          <a:ln/>
        </p:spPr>
        <p:txBody>
          <a:bodyPr wrap="square" rtlCol="0" anchor="ctr"/>
          <a:lstStyle/>
          <a:p>
            <a:pPr indent="0" marL="0">
              <a:buNone/>
            </a:pPr>
            <a:r>
              <a:rPr lang="en-US" sz="1100" b="1" dirty="0">
                <a:solidFill>
                  <a:srgbClr val="12151C"/>
                </a:solidFill>
                <a:latin typeface="Segoe UI" pitchFamily="34" charset="0"/>
                <a:ea typeface="Segoe UI" pitchFamily="34" charset="-122"/>
                <a:cs typeface="Segoe UI" pitchFamily="34" charset="-120"/>
              </a:rPr>
              <a:t>Models + Services</a:t>
            </a:r>
            <a:endParaRPr lang="en-US" sz="1100" dirty="0"/>
          </a:p>
        </p:txBody>
      </p:sp>
      <p:sp>
        <p:nvSpPr>
          <p:cNvPr id="22" name="Text 20"/>
          <p:cNvSpPr/>
          <p:nvPr/>
        </p:nvSpPr>
        <p:spPr>
          <a:xfrm>
            <a:off x="1335024" y="3364992"/>
            <a:ext cx="5029200" cy="219456"/>
          </a:xfrm>
          <a:prstGeom prst="rect">
            <a:avLst/>
          </a:prstGeom>
          <a:noFill/>
          <a:ln/>
        </p:spPr>
        <p:txBody>
          <a:bodyPr wrap="square" rtlCol="0" anchor="ctr"/>
          <a:lstStyle/>
          <a:p>
            <a:pPr indent="0" marL="0">
              <a:buNone/>
            </a:pPr>
            <a:r>
              <a:rPr lang="en-US" sz="740" dirty="0">
                <a:solidFill>
                  <a:srgbClr val="5B6472"/>
                </a:solidFill>
                <a:latin typeface="Consolas" pitchFamily="34" charset="0"/>
                <a:ea typeface="Consolas" pitchFamily="34" charset="-122"/>
                <a:cs typeface="Consolas" pitchFamily="34" charset="-120"/>
              </a:rPr>
              <a:t>PlanCatalog  ·  FeatureCatalog  ·  NavigationCatalog  ·  CompanyProfile</a:t>
            </a:r>
            <a:endParaRPr lang="en-US" sz="740" dirty="0"/>
          </a:p>
        </p:txBody>
      </p:sp>
      <p:sp>
        <p:nvSpPr>
          <p:cNvPr id="23" name="Text 21"/>
          <p:cNvSpPr/>
          <p:nvPr/>
        </p:nvSpPr>
        <p:spPr>
          <a:xfrm>
            <a:off x="6656832" y="3072384"/>
            <a:ext cx="1810512" cy="566928"/>
          </a:xfrm>
          <a:prstGeom prst="rect">
            <a:avLst/>
          </a:prstGeom>
          <a:noFill/>
          <a:ln/>
        </p:spPr>
        <p:txBody>
          <a:bodyPr wrap="square" rtlCol="0" anchor="ctr"/>
          <a:lstStyle/>
          <a:p>
            <a:pPr algn="r" indent="0" marL="0">
              <a:buNone/>
            </a:pPr>
            <a:r>
              <a:rPr lang="en-US" sz="850" dirty="0">
                <a:solidFill>
                  <a:srgbClr val="B4894A"/>
                </a:solidFill>
                <a:latin typeface="Segoe UI" pitchFamily="34" charset="0"/>
                <a:ea typeface="Segoe UI" pitchFamily="34" charset="-122"/>
                <a:cs typeface="Segoe UI" pitchFamily="34" charset="-120"/>
              </a:rPr>
              <a:t>All content and rules</a:t>
            </a:r>
            <a:endParaRPr lang="en-US" sz="850" dirty="0"/>
          </a:p>
        </p:txBody>
      </p:sp>
      <p:sp>
        <p:nvSpPr>
          <p:cNvPr id="24" name="Shape 22"/>
          <p:cNvSpPr/>
          <p:nvPr/>
        </p:nvSpPr>
        <p:spPr>
          <a:xfrm>
            <a:off x="1133856" y="3730752"/>
            <a:ext cx="7443216" cy="566928"/>
          </a:xfrm>
          <a:prstGeom prst="roundRect">
            <a:avLst>
              <a:gd name="adj" fmla="val 6452"/>
            </a:avLst>
          </a:prstGeom>
          <a:solidFill>
            <a:srgbClr val="FFFFFF"/>
          </a:solidFill>
          <a:ln w="12700">
            <a:solidFill>
              <a:srgbClr val="E4E1DB"/>
            </a:solidFill>
            <a:prstDash val="solid"/>
          </a:ln>
        </p:spPr>
      </p:sp>
      <p:sp>
        <p:nvSpPr>
          <p:cNvPr id="25" name="Shape 23"/>
          <p:cNvSpPr/>
          <p:nvPr/>
        </p:nvSpPr>
        <p:spPr>
          <a:xfrm>
            <a:off x="1133856" y="3730752"/>
            <a:ext cx="54864" cy="566928"/>
          </a:xfrm>
          <a:prstGeom prst="rect">
            <a:avLst/>
          </a:prstGeom>
          <a:solidFill>
            <a:srgbClr val="C2593F"/>
          </a:solidFill>
          <a:ln/>
        </p:spPr>
      </p:sp>
      <p:sp>
        <p:nvSpPr>
          <p:cNvPr id="26" name="Text 24"/>
          <p:cNvSpPr/>
          <p:nvPr/>
        </p:nvSpPr>
        <p:spPr>
          <a:xfrm>
            <a:off x="1335024" y="3794760"/>
            <a:ext cx="2834640" cy="237744"/>
          </a:xfrm>
          <a:prstGeom prst="rect">
            <a:avLst/>
          </a:prstGeom>
          <a:noFill/>
          <a:ln/>
        </p:spPr>
        <p:txBody>
          <a:bodyPr wrap="square" rtlCol="0" anchor="ctr"/>
          <a:lstStyle/>
          <a:p>
            <a:pPr indent="0" marL="0">
              <a:buNone/>
            </a:pPr>
            <a:r>
              <a:rPr lang="en-US" sz="1100" b="1" dirty="0">
                <a:solidFill>
                  <a:srgbClr val="12151C"/>
                </a:solidFill>
                <a:latin typeface="Segoe UI" pitchFamily="34" charset="0"/>
                <a:ea typeface="Segoe UI" pitchFamily="34" charset="-122"/>
                <a:cs typeface="Segoe UI" pitchFamily="34" charset="-120"/>
              </a:rPr>
              <a:t>wwwroot - CSS + JS</a:t>
            </a:r>
            <a:endParaRPr lang="en-US" sz="1100" dirty="0"/>
          </a:p>
        </p:txBody>
      </p:sp>
      <p:sp>
        <p:nvSpPr>
          <p:cNvPr id="27" name="Text 25"/>
          <p:cNvSpPr/>
          <p:nvPr/>
        </p:nvSpPr>
        <p:spPr>
          <a:xfrm>
            <a:off x="1335024" y="4023360"/>
            <a:ext cx="5029200" cy="219456"/>
          </a:xfrm>
          <a:prstGeom prst="rect">
            <a:avLst/>
          </a:prstGeom>
          <a:noFill/>
          <a:ln/>
        </p:spPr>
        <p:txBody>
          <a:bodyPr wrap="square" rtlCol="0" anchor="ctr"/>
          <a:lstStyle/>
          <a:p>
            <a:pPr indent="0" marL="0">
              <a:buNone/>
            </a:pPr>
            <a:r>
              <a:rPr lang="en-US" sz="740" dirty="0">
                <a:solidFill>
                  <a:srgbClr val="5B6472"/>
                </a:solidFill>
                <a:latin typeface="Consolas" pitchFamily="34" charset="0"/>
                <a:ea typeface="Consolas" pitchFamily="34" charset="-122"/>
                <a:cs typeface="Consolas" pitchFamily="34" charset="-120"/>
              </a:rPr>
              <a:t>app.css (design system)  ·  home.css (sections)  ·  js/site.js</a:t>
            </a:r>
            <a:endParaRPr lang="en-US" sz="740" dirty="0"/>
          </a:p>
        </p:txBody>
      </p:sp>
      <p:sp>
        <p:nvSpPr>
          <p:cNvPr id="28" name="Text 26"/>
          <p:cNvSpPr/>
          <p:nvPr/>
        </p:nvSpPr>
        <p:spPr>
          <a:xfrm>
            <a:off x="6656832" y="3730752"/>
            <a:ext cx="1810512" cy="566928"/>
          </a:xfrm>
          <a:prstGeom prst="rect">
            <a:avLst/>
          </a:prstGeom>
          <a:noFill/>
          <a:ln/>
        </p:spPr>
        <p:txBody>
          <a:bodyPr wrap="square" rtlCol="0" anchor="ctr"/>
          <a:lstStyle/>
          <a:p>
            <a:pPr algn="r" indent="0" marL="0">
              <a:buNone/>
            </a:pPr>
            <a:r>
              <a:rPr lang="en-US" sz="850" dirty="0">
                <a:solidFill>
                  <a:srgbClr val="C2593F"/>
                </a:solidFill>
                <a:latin typeface="Segoe UI" pitchFamily="34" charset="0"/>
                <a:ea typeface="Segoe UI" pitchFamily="34" charset="-122"/>
                <a:cs typeface="Segoe UI" pitchFamily="34" charset="-120"/>
              </a:rPr>
              <a:t>All visual design</a:t>
            </a:r>
            <a:endParaRPr lang="en-US" sz="850" dirty="0"/>
          </a:p>
        </p:txBody>
      </p:sp>
      <p:sp>
        <p:nvSpPr>
          <p:cNvPr id="29" name="Text 27"/>
          <p:cNvSpPr/>
          <p:nvPr/>
        </p:nvSpPr>
        <p:spPr>
          <a:xfrm>
            <a:off x="530352" y="1828800"/>
            <a:ext cx="566928" cy="274320"/>
          </a:xfrm>
          <a:prstGeom prst="rect">
            <a:avLst/>
          </a:prstGeom>
          <a:noFill/>
          <a:ln/>
        </p:spPr>
        <p:txBody>
          <a:bodyPr wrap="square" rtlCol="0" anchor="ctr"/>
          <a:lstStyle/>
          <a:p>
            <a:pPr algn="ctr" indent="0" marL="0">
              <a:buNone/>
            </a:pPr>
            <a:r>
              <a:rPr lang="en-US" sz="800" b="1" dirty="0">
                <a:solidFill>
                  <a:srgbClr val="5B6472"/>
                </a:solidFill>
                <a:latin typeface="Segoe UI" pitchFamily="34" charset="0"/>
                <a:ea typeface="Segoe UI" pitchFamily="34" charset="-122"/>
                <a:cs typeface="Segoe UI" pitchFamily="34" charset="-120"/>
              </a:rPr>
              <a:t>render  ↑</a:t>
            </a:r>
            <a:endParaRPr lang="en-US" sz="800" dirty="0"/>
          </a:p>
        </p:txBody>
      </p:sp>
      <p:sp>
        <p:nvSpPr>
          <p:cNvPr id="30" name="Shape 28"/>
          <p:cNvSpPr/>
          <p:nvPr/>
        </p:nvSpPr>
        <p:spPr>
          <a:xfrm>
            <a:off x="841248" y="1920240"/>
            <a:ext cx="0" cy="2286000"/>
          </a:xfrm>
          <a:prstGeom prst="line">
            <a:avLst/>
          </a:prstGeom>
          <a:noFill/>
          <a:ln w="12700">
            <a:solidFill>
              <a:srgbClr val="5B6472"/>
            </a:solidFill>
            <a:prstDash val="dash"/>
          </a:ln>
        </p:spPr>
      </p:sp>
      <p:sp>
        <p:nvSpPr>
          <p:cNvPr id="31" name="Text 29"/>
          <p:cNvSpPr/>
          <p:nvPr/>
        </p:nvSpPr>
        <p:spPr>
          <a:xfrm>
            <a:off x="530352" y="3977640"/>
            <a:ext cx="566928" cy="274320"/>
          </a:xfrm>
          <a:prstGeom prst="rect">
            <a:avLst/>
          </a:prstGeom>
          <a:noFill/>
          <a:ln/>
        </p:spPr>
        <p:txBody>
          <a:bodyPr wrap="square" rtlCol="0" anchor="ctr"/>
          <a:lstStyle/>
          <a:p>
            <a:pPr algn="ctr" indent="0" marL="0">
              <a:buNone/>
            </a:pPr>
            <a:r>
              <a:rPr lang="en-US" sz="800" b="1" dirty="0">
                <a:solidFill>
                  <a:srgbClr val="5B6472"/>
                </a:solidFill>
                <a:latin typeface="Segoe UI" pitchFamily="34" charset="0"/>
                <a:ea typeface="Segoe UI" pitchFamily="34" charset="-122"/>
                <a:cs typeface="Segoe UI" pitchFamily="34" charset="-120"/>
              </a:rPr>
              <a:t>depend  ↓</a:t>
            </a:r>
            <a:endParaRPr lang="en-US" sz="800" dirty="0"/>
          </a:p>
        </p:txBody>
      </p:sp>
      <p:sp>
        <p:nvSpPr>
          <p:cNvPr id="32" name="Text 30"/>
          <p:cNvSpPr/>
          <p:nvPr/>
        </p:nvSpPr>
        <p:spPr>
          <a:xfrm>
            <a:off x="566928" y="4443984"/>
            <a:ext cx="8010144" cy="274320"/>
          </a:xfrm>
          <a:prstGeom prst="rect">
            <a:avLst/>
          </a:prstGeom>
          <a:noFill/>
          <a:ln/>
        </p:spPr>
        <p:txBody>
          <a:bodyPr wrap="square" rtlCol="0" anchor="ctr"/>
          <a:lstStyle/>
          <a:p>
            <a:pPr indent="0" marL="0">
              <a:buNone/>
            </a:pPr>
            <a:r>
              <a:rPr lang="en-US" sz="900" b="1" dirty="0">
                <a:solidFill>
                  <a:srgbClr val="12151C"/>
                </a:solidFill>
                <a:latin typeface="Segoe UI" pitchFamily="34" charset="0"/>
                <a:ea typeface="Segoe UI" pitchFamily="34" charset="-122"/>
                <a:cs typeface="Segoe UI" pitchFamily="34" charset="-120"/>
              </a:rPr>
              <a:t>Rule of thumb:  changing words or numbers means editing a Models or Services file, never a .razor file.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566928" y="4668012"/>
            <a:ext cx="8010144" cy="10973"/>
          </a:xfrm>
          <a:prstGeom prst="rect">
            <a:avLst/>
          </a:prstGeom>
          <a:solidFill>
            <a:srgbClr val="E4E1DB"/>
          </a:solidFill>
          <a:ln/>
        </p:spPr>
      </p:sp>
      <p:sp>
        <p:nvSpPr>
          <p:cNvPr id="3" name="Text 1"/>
          <p:cNvSpPr/>
          <p:nvPr/>
        </p:nvSpPr>
        <p:spPr>
          <a:xfrm>
            <a:off x="566928" y="4722876"/>
            <a:ext cx="6408115" cy="274320"/>
          </a:xfrm>
          <a:prstGeom prst="rect">
            <a:avLst/>
          </a:prstGeom>
          <a:noFill/>
          <a:ln/>
        </p:spPr>
        <p:txBody>
          <a:bodyPr wrap="square" rtlCol="0" anchor="ctr"/>
          <a:lstStyle/>
          <a:p>
            <a:pPr indent="0" marL="0">
              <a:buNone/>
            </a:pPr>
            <a:r>
              <a:rPr lang="en-US" sz="800" dirty="0">
                <a:solidFill>
                  <a:srgbClr val="5B6472"/>
                </a:solidFill>
                <a:latin typeface="Segoe UI" pitchFamily="34" charset="0"/>
                <a:ea typeface="Segoe UI" pitchFamily="34" charset="-122"/>
                <a:cs typeface="Segoe UI" pitchFamily="34" charset="-120"/>
              </a:rPr>
              <a:t>Polypus  |  Architecture of the marketing website  |  owned by Axonite</a:t>
            </a:r>
            <a:endParaRPr lang="en-US" sz="800" dirty="0"/>
          </a:p>
        </p:txBody>
      </p:sp>
      <p:sp>
        <p:nvSpPr>
          <p:cNvPr id="4" name="Text 2"/>
          <p:cNvSpPr/>
          <p:nvPr/>
        </p:nvSpPr>
        <p:spPr>
          <a:xfrm>
            <a:off x="8028432" y="4722876"/>
            <a:ext cx="548640" cy="274320"/>
          </a:xfrm>
          <a:prstGeom prst="rect">
            <a:avLst/>
          </a:prstGeom>
          <a:noFill/>
          <a:ln/>
        </p:spPr>
        <p:txBody>
          <a:bodyPr wrap="square" rtlCol="0" anchor="ctr"/>
          <a:lstStyle/>
          <a:p>
            <a:pPr algn="r" indent="0" marL="0">
              <a:buNone/>
            </a:pPr>
            <a:r>
              <a:rPr lang="en-US" sz="800" dirty="0">
                <a:solidFill>
                  <a:srgbClr val="5B6472"/>
                </a:solidFill>
                <a:latin typeface="Consolas" pitchFamily="34" charset="0"/>
                <a:ea typeface="Consolas" pitchFamily="34" charset="-122"/>
                <a:cs typeface="Consolas" pitchFamily="34" charset="-120"/>
              </a:rPr>
              <a:t>6</a:t>
            </a:r>
            <a:endParaRPr lang="en-US" sz="800" dirty="0"/>
          </a:p>
        </p:txBody>
      </p:sp>
      <p:sp>
        <p:nvSpPr>
          <p:cNvPr id="5" name="Shape 3"/>
          <p:cNvSpPr/>
          <p:nvPr/>
        </p:nvSpPr>
        <p:spPr>
          <a:xfrm>
            <a:off x="566928" y="384048"/>
            <a:ext cx="420624" cy="50292"/>
          </a:xfrm>
          <a:prstGeom prst="rect">
            <a:avLst/>
          </a:prstGeom>
          <a:solidFill>
            <a:srgbClr val="0F766E"/>
          </a:solidFill>
          <a:ln/>
        </p:spPr>
      </p:sp>
      <p:sp>
        <p:nvSpPr>
          <p:cNvPr id="6" name="Text 4"/>
          <p:cNvSpPr/>
          <p:nvPr/>
        </p:nvSpPr>
        <p:spPr>
          <a:xfrm>
            <a:off x="566928" y="548640"/>
            <a:ext cx="8010144" cy="201168"/>
          </a:xfrm>
          <a:prstGeom prst="rect">
            <a:avLst/>
          </a:prstGeom>
          <a:noFill/>
          <a:ln/>
        </p:spPr>
        <p:txBody>
          <a:bodyPr wrap="square" rtlCol="0" anchor="ctr"/>
          <a:lstStyle/>
          <a:p>
            <a:pPr indent="0" marL="0">
              <a:buNone/>
            </a:pPr>
            <a:r>
              <a:rPr lang="en-US" sz="900" b="1" spc="140" kern="0" dirty="0">
                <a:solidFill>
                  <a:srgbClr val="0F766E"/>
                </a:solidFill>
                <a:latin typeface="Segoe UI" pitchFamily="34" charset="0"/>
                <a:ea typeface="Segoe UI" pitchFamily="34" charset="-122"/>
                <a:cs typeface="Segoe UI" pitchFamily="34" charset="-120"/>
              </a:rPr>
              <a:t>RUNTIME</a:t>
            </a:r>
            <a:endParaRPr lang="en-US" sz="900" dirty="0"/>
          </a:p>
        </p:txBody>
      </p:sp>
      <p:sp>
        <p:nvSpPr>
          <p:cNvPr id="7" name="Text 5"/>
          <p:cNvSpPr/>
          <p:nvPr/>
        </p:nvSpPr>
        <p:spPr>
          <a:xfrm>
            <a:off x="566928" y="786384"/>
            <a:ext cx="8010144" cy="420624"/>
          </a:xfrm>
          <a:prstGeom prst="rect">
            <a:avLst/>
          </a:prstGeom>
          <a:noFill/>
          <a:ln/>
        </p:spPr>
        <p:txBody>
          <a:bodyPr wrap="square" rtlCol="0" anchor="ctr"/>
          <a:lstStyle/>
          <a:p>
            <a:pPr indent="0" marL="0">
              <a:buNone/>
            </a:pPr>
            <a:r>
              <a:rPr lang="en-US" sz="2400" dirty="0">
                <a:solidFill>
                  <a:srgbClr val="12151C"/>
                </a:solidFill>
                <a:latin typeface="Georgia" pitchFamily="34" charset="0"/>
                <a:ea typeface="Georgia" pitchFamily="34" charset="-122"/>
                <a:cs typeface="Georgia" pitchFamily="34" charset="-120"/>
              </a:rPr>
              <a:t>Two render modes, chosen per page</a:t>
            </a:r>
            <a:endParaRPr lang="en-US" sz="2400" dirty="0"/>
          </a:p>
        </p:txBody>
      </p:sp>
      <p:sp>
        <p:nvSpPr>
          <p:cNvPr id="8" name="Text 6"/>
          <p:cNvSpPr/>
          <p:nvPr/>
        </p:nvSpPr>
        <p:spPr>
          <a:xfrm>
            <a:off x="566928" y="1243584"/>
            <a:ext cx="8010144" cy="310896"/>
          </a:xfrm>
          <a:prstGeom prst="rect">
            <a:avLst/>
          </a:prstGeom>
          <a:noFill/>
          <a:ln/>
        </p:spPr>
        <p:txBody>
          <a:bodyPr wrap="square" rtlCol="0" anchor="t"/>
          <a:lstStyle/>
          <a:p>
            <a:pPr indent="0" marL="0">
              <a:buNone/>
            </a:pPr>
            <a:r>
              <a:rPr lang="en-US" sz="1050" dirty="0">
                <a:solidFill>
                  <a:srgbClr val="3B4250"/>
                </a:solidFill>
                <a:latin typeface="Segoe UI" pitchFamily="34" charset="0"/>
                <a:ea typeface="Segoe UI" pitchFamily="34" charset="-122"/>
                <a:cs typeface="Segoe UI" pitchFamily="34" charset="-120"/>
              </a:rPr>
              <a:t>Static server rendering is the default. Interactivity is opt-in, page by page.</a:t>
            </a:r>
            <a:endParaRPr lang="en-US" sz="1050" dirty="0"/>
          </a:p>
        </p:txBody>
      </p:sp>
      <p:sp>
        <p:nvSpPr>
          <p:cNvPr id="9" name="Shape 7"/>
          <p:cNvSpPr/>
          <p:nvPr/>
        </p:nvSpPr>
        <p:spPr>
          <a:xfrm>
            <a:off x="566928" y="1691640"/>
            <a:ext cx="3877056" cy="2377440"/>
          </a:xfrm>
          <a:prstGeom prst="roundRect">
            <a:avLst>
              <a:gd name="adj" fmla="val 1923"/>
            </a:avLst>
          </a:prstGeom>
          <a:solidFill>
            <a:srgbClr val="FFFFFF"/>
          </a:solidFill>
          <a:ln w="12700">
            <a:solidFill>
              <a:srgbClr val="E4E1DB"/>
            </a:solidFill>
            <a:prstDash val="solid"/>
          </a:ln>
        </p:spPr>
      </p:sp>
      <p:sp>
        <p:nvSpPr>
          <p:cNvPr id="10" name="Text 8"/>
          <p:cNvSpPr/>
          <p:nvPr/>
        </p:nvSpPr>
        <p:spPr>
          <a:xfrm>
            <a:off x="768096" y="1828800"/>
            <a:ext cx="3657600" cy="274320"/>
          </a:xfrm>
          <a:prstGeom prst="rect">
            <a:avLst/>
          </a:prstGeom>
          <a:noFill/>
          <a:ln/>
        </p:spPr>
        <p:txBody>
          <a:bodyPr wrap="square" rtlCol="0" anchor="ctr"/>
          <a:lstStyle/>
          <a:p>
            <a:pPr indent="0" marL="0">
              <a:buNone/>
            </a:pPr>
            <a:r>
              <a:rPr lang="en-US" sz="1300" dirty="0">
                <a:solidFill>
                  <a:srgbClr val="12151C"/>
                </a:solidFill>
                <a:latin typeface="Georgia" pitchFamily="34" charset="0"/>
                <a:ea typeface="Georgia" pitchFamily="34" charset="-122"/>
                <a:cs typeface="Georgia" pitchFamily="34" charset="-120"/>
              </a:rPr>
              <a:t>Static server rendering</a:t>
            </a:r>
            <a:endParaRPr lang="en-US" sz="1300" dirty="0"/>
          </a:p>
        </p:txBody>
      </p:sp>
      <p:sp>
        <p:nvSpPr>
          <p:cNvPr id="11" name="Text 9"/>
          <p:cNvSpPr/>
          <p:nvPr/>
        </p:nvSpPr>
        <p:spPr>
          <a:xfrm>
            <a:off x="768096" y="2103120"/>
            <a:ext cx="3657600" cy="201168"/>
          </a:xfrm>
          <a:prstGeom prst="rect">
            <a:avLst/>
          </a:prstGeom>
          <a:noFill/>
          <a:ln/>
        </p:spPr>
        <p:txBody>
          <a:bodyPr wrap="square" rtlCol="0" anchor="ctr"/>
          <a:lstStyle/>
          <a:p>
            <a:pPr indent="0" marL="0">
              <a:buNone/>
            </a:pPr>
            <a:r>
              <a:rPr lang="en-US" sz="850" b="1" dirty="0">
                <a:solidFill>
                  <a:srgbClr val="0F766E"/>
                </a:solidFill>
                <a:latin typeface="Segoe UI" pitchFamily="34" charset="0"/>
                <a:ea typeface="Segoe UI" pitchFamily="34" charset="-122"/>
                <a:cs typeface="Segoe UI" pitchFamily="34" charset="-120"/>
              </a:rPr>
              <a:t>The default</a:t>
            </a:r>
            <a:endParaRPr lang="en-US" sz="850" dirty="0"/>
          </a:p>
        </p:txBody>
      </p:sp>
      <p:sp>
        <p:nvSpPr>
          <p:cNvPr id="12" name="Text 10"/>
          <p:cNvSpPr/>
          <p:nvPr/>
        </p:nvSpPr>
        <p:spPr>
          <a:xfrm>
            <a:off x="768096" y="2359152"/>
            <a:ext cx="3749040" cy="1554480"/>
          </a:xfrm>
          <a:prstGeom prst="rect">
            <a:avLst/>
          </a:prstGeom>
          <a:noFill/>
          <a:ln/>
        </p:spPr>
        <p:txBody>
          <a:bodyPr wrap="square" rtlCol="0" anchor="ctr"/>
          <a:lstStyle/>
          <a:p>
            <a:pPr marL="342900" indent="-342900">
              <a:lnSpc>
                <a:spcPct val="122000"/>
              </a:lnSpc>
              <a:buSzPct val="100000"/>
              <a:buChar char="▪"/>
            </a:pPr>
            <a:r>
              <a:rPr lang="en-US" sz="1000" dirty="0">
                <a:solidFill>
                  <a:srgbClr val="3B4250"/>
                </a:solidFill>
                <a:latin typeface="Segoe UI" pitchFamily="34" charset="0"/>
                <a:ea typeface="Segoe UI" pitchFamily="34" charset="-122"/>
                <a:cs typeface="Segoe UI" pitchFamily="34" charset="-120"/>
              </a:rPr>
              <a:t>Finished HTML, no WebSocket</a:t>
            </a:r>
            <a:endParaRPr lang="en-US" sz="1000" dirty="0"/>
          </a:p>
          <a:p>
            <a:pPr marL="342900" indent="-342900">
              <a:lnSpc>
                <a:spcPct val="122000"/>
              </a:lnSpc>
              <a:buSzPct val="100000"/>
              <a:buChar char="▪"/>
            </a:pPr>
            <a:r>
              <a:rPr lang="en-US" sz="1000" dirty="0">
                <a:solidFill>
                  <a:srgbClr val="3B4250"/>
                </a:solidFill>
                <a:latin typeface="Segoe UI" pitchFamily="34" charset="0"/>
                <a:ea typeface="Segoe UI" pitchFamily="34" charset="-122"/>
                <a:cs typeface="Segoe UI" pitchFamily="34" charset="-120"/>
              </a:rPr>
              <a:t>Works with JavaScript disabled</a:t>
            </a:r>
            <a:endParaRPr lang="en-US" sz="1000" dirty="0"/>
          </a:p>
          <a:p>
            <a:pPr marL="342900" indent="-342900">
              <a:lnSpc>
                <a:spcPct val="122000"/>
              </a:lnSpc>
              <a:buSzPct val="100000"/>
              <a:buChar char="▪"/>
            </a:pPr>
            <a:r>
              <a:rPr lang="en-US" sz="1000" dirty="0">
                <a:solidFill>
                  <a:srgbClr val="3B4250"/>
                </a:solidFill>
                <a:latin typeface="Segoe UI" pitchFamily="34" charset="0"/>
                <a:ea typeface="Segoe UI" pitchFamily="34" charset="-122"/>
                <a:cs typeface="Segoe UI" pitchFamily="34" charset="-120"/>
              </a:rPr>
              <a:t>Faster first paint, cacheable</a:t>
            </a:r>
            <a:endParaRPr lang="en-US" sz="1000" dirty="0"/>
          </a:p>
          <a:p>
            <a:pPr marL="342900" indent="-342900">
              <a:lnSpc>
                <a:spcPct val="122000"/>
              </a:lnSpc>
              <a:buSzPct val="100000"/>
              <a:buChar char="▪"/>
            </a:pPr>
            <a:r>
              <a:rPr lang="en-US" sz="1000" dirty="0">
                <a:solidFill>
                  <a:srgbClr val="3B4250"/>
                </a:solidFill>
                <a:latin typeface="Segoe UI" pitchFamily="34" charset="0"/>
                <a:ea typeface="Segoe UI" pitchFamily="34" charset="-122"/>
                <a:cs typeface="Segoe UI" pitchFamily="34" charset="-120"/>
              </a:rPr>
              <a:t>13 of 17 routes</a:t>
            </a:r>
            <a:endParaRPr lang="en-US" sz="1000" dirty="0"/>
          </a:p>
        </p:txBody>
      </p:sp>
      <p:sp>
        <p:nvSpPr>
          <p:cNvPr id="13" name="Shape 11"/>
          <p:cNvSpPr/>
          <p:nvPr/>
        </p:nvSpPr>
        <p:spPr>
          <a:xfrm>
            <a:off x="4700016" y="1691640"/>
            <a:ext cx="3877056" cy="2377440"/>
          </a:xfrm>
          <a:prstGeom prst="roundRect">
            <a:avLst>
              <a:gd name="adj" fmla="val 1923"/>
            </a:avLst>
          </a:prstGeom>
          <a:solidFill>
            <a:srgbClr val="FFFFFF"/>
          </a:solidFill>
          <a:ln w="17780">
            <a:solidFill>
              <a:srgbClr val="0F766E"/>
            </a:solidFill>
            <a:prstDash val="solid"/>
          </a:ln>
        </p:spPr>
      </p:sp>
      <p:sp>
        <p:nvSpPr>
          <p:cNvPr id="14" name="Text 12"/>
          <p:cNvSpPr/>
          <p:nvPr/>
        </p:nvSpPr>
        <p:spPr>
          <a:xfrm>
            <a:off x="4901184" y="1828800"/>
            <a:ext cx="3657600" cy="274320"/>
          </a:xfrm>
          <a:prstGeom prst="rect">
            <a:avLst/>
          </a:prstGeom>
          <a:noFill/>
          <a:ln/>
        </p:spPr>
        <p:txBody>
          <a:bodyPr wrap="square" rtlCol="0" anchor="ctr"/>
          <a:lstStyle/>
          <a:p>
            <a:pPr indent="0" marL="0">
              <a:buNone/>
            </a:pPr>
            <a:r>
              <a:rPr lang="en-US" sz="1300" dirty="0">
                <a:solidFill>
                  <a:srgbClr val="12151C"/>
                </a:solidFill>
                <a:latin typeface="Georgia" pitchFamily="34" charset="0"/>
                <a:ea typeface="Georgia" pitchFamily="34" charset="-122"/>
                <a:cs typeface="Georgia" pitchFamily="34" charset="-120"/>
              </a:rPr>
              <a:t>Interactive Server</a:t>
            </a:r>
            <a:endParaRPr lang="en-US" sz="1300" dirty="0"/>
          </a:p>
        </p:txBody>
      </p:sp>
      <p:sp>
        <p:nvSpPr>
          <p:cNvPr id="15" name="Text 13"/>
          <p:cNvSpPr/>
          <p:nvPr/>
        </p:nvSpPr>
        <p:spPr>
          <a:xfrm>
            <a:off x="4901184" y="2103120"/>
            <a:ext cx="3931920" cy="201168"/>
          </a:xfrm>
          <a:prstGeom prst="rect">
            <a:avLst/>
          </a:prstGeom>
          <a:noFill/>
          <a:ln/>
        </p:spPr>
        <p:txBody>
          <a:bodyPr wrap="square" rtlCol="0" anchor="ctr"/>
          <a:lstStyle/>
          <a:p>
            <a:pPr indent="0" marL="0">
              <a:buNone/>
            </a:pPr>
            <a:r>
              <a:rPr lang="en-US" sz="760" b="1" dirty="0">
                <a:solidFill>
                  <a:srgbClr val="0F766E"/>
                </a:solidFill>
                <a:latin typeface="Consolas" pitchFamily="34" charset="0"/>
                <a:ea typeface="Consolas" pitchFamily="34" charset="-122"/>
                <a:cs typeface="Consolas" pitchFamily="34" charset="-120"/>
              </a:rPr>
              <a:t>@rendermode InteractiveServer</a:t>
            </a:r>
            <a:endParaRPr lang="en-US" sz="760" dirty="0"/>
          </a:p>
        </p:txBody>
      </p:sp>
      <p:sp>
        <p:nvSpPr>
          <p:cNvPr id="16" name="Text 14"/>
          <p:cNvSpPr/>
          <p:nvPr/>
        </p:nvSpPr>
        <p:spPr>
          <a:xfrm>
            <a:off x="4901184" y="2359152"/>
            <a:ext cx="3749040" cy="1554480"/>
          </a:xfrm>
          <a:prstGeom prst="rect">
            <a:avLst/>
          </a:prstGeom>
          <a:noFill/>
          <a:ln/>
        </p:spPr>
        <p:txBody>
          <a:bodyPr wrap="square" rtlCol="0" anchor="ctr"/>
          <a:lstStyle/>
          <a:p>
            <a:pPr marL="342900" indent="-342900">
              <a:lnSpc>
                <a:spcPct val="122000"/>
              </a:lnSpc>
              <a:buSzPct val="100000"/>
              <a:buChar char="▪"/>
            </a:pPr>
            <a:r>
              <a:rPr lang="en-US" sz="1000" dirty="0">
                <a:solidFill>
                  <a:srgbClr val="3B4250"/>
                </a:solidFill>
                <a:latin typeface="Segoe UI" pitchFamily="34" charset="0"/>
                <a:ea typeface="Segoe UI" pitchFamily="34" charset="-122"/>
                <a:cs typeface="Segoe UI" pitchFamily="34" charset="-120"/>
              </a:rPr>
              <a:t>Live WebSocket circuit</a:t>
            </a:r>
            <a:endParaRPr lang="en-US" sz="1000" dirty="0"/>
          </a:p>
          <a:p>
            <a:pPr marL="342900" indent="-342900">
              <a:lnSpc>
                <a:spcPct val="122000"/>
              </a:lnSpc>
              <a:buSzPct val="100000"/>
              <a:buChar char="▪"/>
            </a:pPr>
            <a:r>
              <a:rPr lang="en-US" sz="1000" dirty="0">
                <a:solidFill>
                  <a:srgbClr val="3B4250"/>
                </a:solidFill>
                <a:latin typeface="Segoe UI" pitchFamily="34" charset="0"/>
                <a:ea typeface="Segoe UI" pitchFamily="34" charset="-122"/>
                <a:cs typeface="Segoe UI" pitchFamily="34" charset="-120"/>
              </a:rPr>
              <a:t>State held on the server</a:t>
            </a:r>
            <a:endParaRPr lang="en-US" sz="1000" dirty="0"/>
          </a:p>
          <a:p>
            <a:pPr marL="342900" indent="-342900">
              <a:lnSpc>
                <a:spcPct val="122000"/>
              </a:lnSpc>
              <a:buSzPct val="100000"/>
              <a:buChar char="▪"/>
            </a:pPr>
            <a:r>
              <a:rPr lang="en-US" sz="1000" dirty="0">
                <a:solidFill>
                  <a:srgbClr val="3B4250"/>
                </a:solidFill>
                <a:latin typeface="Segoe UI" pitchFamily="34" charset="0"/>
                <a:ea typeface="Segoe UI" pitchFamily="34" charset="-122"/>
                <a:cs typeface="Segoe UI" pitchFamily="34" charset="-120"/>
              </a:rPr>
              <a:t>Only 4 pages plus the header</a:t>
            </a:r>
            <a:endParaRPr lang="en-US" sz="1000" dirty="0"/>
          </a:p>
          <a:p>
            <a:pPr marL="342900" indent="-342900">
              <a:lnSpc>
                <a:spcPct val="122000"/>
              </a:lnSpc>
              <a:buSzPct val="100000"/>
              <a:buChar char="▪"/>
            </a:pPr>
            <a:r>
              <a:rPr lang="en-US" sz="1000" dirty="0">
                <a:solidFill>
                  <a:srgbClr val="3B4250"/>
                </a:solidFill>
                <a:latin typeface="Segoe UI" pitchFamily="34" charset="0"/>
                <a:ea typeface="Segoe UI" pitchFamily="34" charset="-122"/>
                <a:cs typeface="Segoe UI" pitchFamily="34" charset="-120"/>
              </a:rPr>
              <a:t>Price toggle, accordion, search, form</a:t>
            </a:r>
            <a:endParaRPr lang="en-US" sz="1000" dirty="0"/>
          </a:p>
        </p:txBody>
      </p:sp>
      <p:sp>
        <p:nvSpPr>
          <p:cNvPr id="17" name="Shape 15"/>
          <p:cNvSpPr/>
          <p:nvPr/>
        </p:nvSpPr>
        <p:spPr>
          <a:xfrm>
            <a:off x="566928" y="4133088"/>
            <a:ext cx="1309421" cy="420624"/>
          </a:xfrm>
          <a:prstGeom prst="roundRect">
            <a:avLst>
              <a:gd name="adj" fmla="val 8696"/>
            </a:avLst>
          </a:prstGeom>
          <a:solidFill>
            <a:srgbClr val="FFFFFF"/>
          </a:solidFill>
          <a:ln w="12700">
            <a:solidFill>
              <a:srgbClr val="E4E1DB"/>
            </a:solidFill>
            <a:prstDash val="solid"/>
          </a:ln>
        </p:spPr>
      </p:sp>
      <p:sp>
        <p:nvSpPr>
          <p:cNvPr id="18" name="Text 16"/>
          <p:cNvSpPr/>
          <p:nvPr/>
        </p:nvSpPr>
        <p:spPr>
          <a:xfrm>
            <a:off x="612648" y="4133088"/>
            <a:ext cx="1217981" cy="420624"/>
          </a:xfrm>
          <a:prstGeom prst="rect">
            <a:avLst/>
          </a:prstGeom>
          <a:noFill/>
          <a:ln/>
        </p:spPr>
        <p:txBody>
          <a:bodyPr wrap="square" rtlCol="0" anchor="ctr"/>
          <a:lstStyle/>
          <a:p>
            <a:pPr algn="ctr" indent="0" marL="0">
              <a:buNone/>
            </a:pPr>
            <a:r>
              <a:rPr lang="en-US" sz="760" dirty="0">
                <a:solidFill>
                  <a:srgbClr val="3B4250"/>
                </a:solidFill>
                <a:latin typeface="Segoe UI" pitchFamily="34" charset="0"/>
                <a:ea typeface="Segoe UI" pitchFamily="34" charset="-122"/>
                <a:cs typeface="Segoe UI" pitchFamily="34" charset="-120"/>
              </a:rPr>
              <a:t>Browser request</a:t>
            </a:r>
            <a:endParaRPr lang="en-US" sz="760" dirty="0"/>
          </a:p>
        </p:txBody>
      </p:sp>
      <p:sp>
        <p:nvSpPr>
          <p:cNvPr id="19" name="Text 17"/>
          <p:cNvSpPr/>
          <p:nvPr/>
        </p:nvSpPr>
        <p:spPr>
          <a:xfrm>
            <a:off x="1876349" y="4133088"/>
            <a:ext cx="365760" cy="420624"/>
          </a:xfrm>
          <a:prstGeom prst="rect">
            <a:avLst/>
          </a:prstGeom>
          <a:noFill/>
          <a:ln/>
        </p:spPr>
        <p:txBody>
          <a:bodyPr wrap="square" rtlCol="0" anchor="ctr"/>
          <a:lstStyle/>
          <a:p>
            <a:pPr algn="ctr" indent="0" marL="0">
              <a:buNone/>
            </a:pPr>
            <a:r>
              <a:rPr lang="en-US" sz="1400" dirty="0">
                <a:solidFill>
                  <a:srgbClr val="5B6472"/>
                </a:solidFill>
                <a:latin typeface="Segoe UI" pitchFamily="34" charset="0"/>
                <a:ea typeface="Segoe UI" pitchFamily="34" charset="-122"/>
                <a:cs typeface="Segoe UI" pitchFamily="34" charset="-120"/>
              </a:rPr>
              <a:t>›</a:t>
            </a:r>
            <a:endParaRPr lang="en-US" sz="1400" dirty="0"/>
          </a:p>
        </p:txBody>
      </p:sp>
      <p:sp>
        <p:nvSpPr>
          <p:cNvPr id="20" name="Shape 18"/>
          <p:cNvSpPr/>
          <p:nvPr/>
        </p:nvSpPr>
        <p:spPr>
          <a:xfrm>
            <a:off x="2242109" y="4133088"/>
            <a:ext cx="1309421" cy="420624"/>
          </a:xfrm>
          <a:prstGeom prst="roundRect">
            <a:avLst>
              <a:gd name="adj" fmla="val 8696"/>
            </a:avLst>
          </a:prstGeom>
          <a:solidFill>
            <a:srgbClr val="FFFFFF"/>
          </a:solidFill>
          <a:ln w="12700">
            <a:solidFill>
              <a:srgbClr val="E4E1DB"/>
            </a:solidFill>
            <a:prstDash val="solid"/>
          </a:ln>
        </p:spPr>
      </p:sp>
      <p:sp>
        <p:nvSpPr>
          <p:cNvPr id="21" name="Text 19"/>
          <p:cNvSpPr/>
          <p:nvPr/>
        </p:nvSpPr>
        <p:spPr>
          <a:xfrm>
            <a:off x="2287829" y="4133088"/>
            <a:ext cx="1217981" cy="420624"/>
          </a:xfrm>
          <a:prstGeom prst="rect">
            <a:avLst/>
          </a:prstGeom>
          <a:noFill/>
          <a:ln/>
        </p:spPr>
        <p:txBody>
          <a:bodyPr wrap="square" rtlCol="0" anchor="ctr"/>
          <a:lstStyle/>
          <a:p>
            <a:pPr algn="ctr" indent="0" marL="0">
              <a:buNone/>
            </a:pPr>
            <a:r>
              <a:rPr lang="en-US" sz="760" dirty="0">
                <a:solidFill>
                  <a:srgbClr val="3B4250"/>
                </a:solidFill>
                <a:latin typeface="Segoe UI" pitchFamily="34" charset="0"/>
                <a:ea typeface="Segoe UI" pitchFamily="34" charset="-122"/>
                <a:cs typeface="Segoe UI" pitchFamily="34" charset="-120"/>
              </a:rPr>
              <a:t>ASP.NET Core routing</a:t>
            </a:r>
            <a:endParaRPr lang="en-US" sz="760" dirty="0"/>
          </a:p>
        </p:txBody>
      </p:sp>
      <p:sp>
        <p:nvSpPr>
          <p:cNvPr id="22" name="Text 20"/>
          <p:cNvSpPr/>
          <p:nvPr/>
        </p:nvSpPr>
        <p:spPr>
          <a:xfrm>
            <a:off x="3551530" y="4133088"/>
            <a:ext cx="365760" cy="420624"/>
          </a:xfrm>
          <a:prstGeom prst="rect">
            <a:avLst/>
          </a:prstGeom>
          <a:noFill/>
          <a:ln/>
        </p:spPr>
        <p:txBody>
          <a:bodyPr wrap="square" rtlCol="0" anchor="ctr"/>
          <a:lstStyle/>
          <a:p>
            <a:pPr algn="ctr" indent="0" marL="0">
              <a:buNone/>
            </a:pPr>
            <a:r>
              <a:rPr lang="en-US" sz="1400" dirty="0">
                <a:solidFill>
                  <a:srgbClr val="5B6472"/>
                </a:solidFill>
                <a:latin typeface="Segoe UI" pitchFamily="34" charset="0"/>
                <a:ea typeface="Segoe UI" pitchFamily="34" charset="-122"/>
                <a:cs typeface="Segoe UI" pitchFamily="34" charset="-120"/>
              </a:rPr>
              <a:t>›</a:t>
            </a:r>
            <a:endParaRPr lang="en-US" sz="1400" dirty="0"/>
          </a:p>
        </p:txBody>
      </p:sp>
      <p:sp>
        <p:nvSpPr>
          <p:cNvPr id="23" name="Shape 21"/>
          <p:cNvSpPr/>
          <p:nvPr/>
        </p:nvSpPr>
        <p:spPr>
          <a:xfrm>
            <a:off x="3917290" y="4133088"/>
            <a:ext cx="1309421" cy="420624"/>
          </a:xfrm>
          <a:prstGeom prst="roundRect">
            <a:avLst>
              <a:gd name="adj" fmla="val 8696"/>
            </a:avLst>
          </a:prstGeom>
          <a:solidFill>
            <a:srgbClr val="FFFFFF"/>
          </a:solidFill>
          <a:ln w="12700">
            <a:solidFill>
              <a:srgbClr val="E4E1DB"/>
            </a:solidFill>
            <a:prstDash val="solid"/>
          </a:ln>
        </p:spPr>
      </p:sp>
      <p:sp>
        <p:nvSpPr>
          <p:cNvPr id="24" name="Text 22"/>
          <p:cNvSpPr/>
          <p:nvPr/>
        </p:nvSpPr>
        <p:spPr>
          <a:xfrm>
            <a:off x="3963010" y="4133088"/>
            <a:ext cx="1217981" cy="420624"/>
          </a:xfrm>
          <a:prstGeom prst="rect">
            <a:avLst/>
          </a:prstGeom>
          <a:noFill/>
          <a:ln/>
        </p:spPr>
        <p:txBody>
          <a:bodyPr wrap="square" rtlCol="0" anchor="ctr"/>
          <a:lstStyle/>
          <a:p>
            <a:pPr algn="ctr" indent="0" marL="0">
              <a:buNone/>
            </a:pPr>
            <a:r>
              <a:rPr lang="en-US" sz="760" dirty="0">
                <a:solidFill>
                  <a:srgbClr val="3B4250"/>
                </a:solidFill>
                <a:latin typeface="Segoe UI" pitchFamily="34" charset="0"/>
                <a:ea typeface="Segoe UI" pitchFamily="34" charset="-122"/>
                <a:cs typeface="Segoe UI" pitchFamily="34" charset="-120"/>
              </a:rPr>
              <a:t>Razor component</a:t>
            </a:r>
            <a:endParaRPr lang="en-US" sz="760" dirty="0"/>
          </a:p>
        </p:txBody>
      </p:sp>
      <p:sp>
        <p:nvSpPr>
          <p:cNvPr id="25" name="Text 23"/>
          <p:cNvSpPr/>
          <p:nvPr/>
        </p:nvSpPr>
        <p:spPr>
          <a:xfrm>
            <a:off x="5226710" y="4133088"/>
            <a:ext cx="365760" cy="420624"/>
          </a:xfrm>
          <a:prstGeom prst="rect">
            <a:avLst/>
          </a:prstGeom>
          <a:noFill/>
          <a:ln/>
        </p:spPr>
        <p:txBody>
          <a:bodyPr wrap="square" rtlCol="0" anchor="ctr"/>
          <a:lstStyle/>
          <a:p>
            <a:pPr algn="ctr" indent="0" marL="0">
              <a:buNone/>
            </a:pPr>
            <a:r>
              <a:rPr lang="en-US" sz="1400" dirty="0">
                <a:solidFill>
                  <a:srgbClr val="5B6472"/>
                </a:solidFill>
                <a:latin typeface="Segoe UI" pitchFamily="34" charset="0"/>
                <a:ea typeface="Segoe UI" pitchFamily="34" charset="-122"/>
                <a:cs typeface="Segoe UI" pitchFamily="34" charset="-120"/>
              </a:rPr>
              <a:t>›</a:t>
            </a:r>
            <a:endParaRPr lang="en-US" sz="1400" dirty="0"/>
          </a:p>
        </p:txBody>
      </p:sp>
      <p:sp>
        <p:nvSpPr>
          <p:cNvPr id="26" name="Shape 24"/>
          <p:cNvSpPr/>
          <p:nvPr/>
        </p:nvSpPr>
        <p:spPr>
          <a:xfrm>
            <a:off x="5592470" y="4133088"/>
            <a:ext cx="1309421" cy="420624"/>
          </a:xfrm>
          <a:prstGeom prst="roundRect">
            <a:avLst>
              <a:gd name="adj" fmla="val 8696"/>
            </a:avLst>
          </a:prstGeom>
          <a:solidFill>
            <a:srgbClr val="FFFFFF"/>
          </a:solidFill>
          <a:ln w="12700">
            <a:solidFill>
              <a:srgbClr val="E4E1DB"/>
            </a:solidFill>
            <a:prstDash val="solid"/>
          </a:ln>
        </p:spPr>
      </p:sp>
      <p:sp>
        <p:nvSpPr>
          <p:cNvPr id="27" name="Text 25"/>
          <p:cNvSpPr/>
          <p:nvPr/>
        </p:nvSpPr>
        <p:spPr>
          <a:xfrm>
            <a:off x="5638190" y="4133088"/>
            <a:ext cx="1217981" cy="420624"/>
          </a:xfrm>
          <a:prstGeom prst="rect">
            <a:avLst/>
          </a:prstGeom>
          <a:noFill/>
          <a:ln/>
        </p:spPr>
        <p:txBody>
          <a:bodyPr wrap="square" rtlCol="0" anchor="ctr"/>
          <a:lstStyle/>
          <a:p>
            <a:pPr algn="ctr" indent="0" marL="0">
              <a:buNone/>
            </a:pPr>
            <a:r>
              <a:rPr lang="en-US" sz="760" dirty="0">
                <a:solidFill>
                  <a:srgbClr val="3B4250"/>
                </a:solidFill>
                <a:latin typeface="Segoe UI" pitchFamily="34" charset="0"/>
                <a:ea typeface="Segoe UI" pitchFamily="34" charset="-122"/>
                <a:cs typeface="Segoe UI" pitchFamily="34" charset="-120"/>
              </a:rPr>
              <a:t>HTML response</a:t>
            </a:r>
            <a:endParaRPr lang="en-US" sz="760" dirty="0"/>
          </a:p>
        </p:txBody>
      </p:sp>
      <p:sp>
        <p:nvSpPr>
          <p:cNvPr id="28" name="Text 26"/>
          <p:cNvSpPr/>
          <p:nvPr/>
        </p:nvSpPr>
        <p:spPr>
          <a:xfrm>
            <a:off x="6901891" y="4133088"/>
            <a:ext cx="365760" cy="420624"/>
          </a:xfrm>
          <a:prstGeom prst="rect">
            <a:avLst/>
          </a:prstGeom>
          <a:noFill/>
          <a:ln/>
        </p:spPr>
        <p:txBody>
          <a:bodyPr wrap="square" rtlCol="0" anchor="ctr"/>
          <a:lstStyle/>
          <a:p>
            <a:pPr algn="ctr" indent="0" marL="0">
              <a:buNone/>
            </a:pPr>
            <a:r>
              <a:rPr lang="en-US" sz="1400" dirty="0">
                <a:solidFill>
                  <a:srgbClr val="5B6472"/>
                </a:solidFill>
                <a:latin typeface="Segoe UI" pitchFamily="34" charset="0"/>
                <a:ea typeface="Segoe UI" pitchFamily="34" charset="-122"/>
                <a:cs typeface="Segoe UI" pitchFamily="34" charset="-120"/>
              </a:rPr>
              <a:t>›</a:t>
            </a:r>
            <a:endParaRPr lang="en-US" sz="1400" dirty="0"/>
          </a:p>
        </p:txBody>
      </p:sp>
      <p:sp>
        <p:nvSpPr>
          <p:cNvPr id="29" name="Shape 27"/>
          <p:cNvSpPr/>
          <p:nvPr/>
        </p:nvSpPr>
        <p:spPr>
          <a:xfrm>
            <a:off x="7267651" y="4133088"/>
            <a:ext cx="1309421" cy="420624"/>
          </a:xfrm>
          <a:prstGeom prst="roundRect">
            <a:avLst>
              <a:gd name="adj" fmla="val 8696"/>
            </a:avLst>
          </a:prstGeom>
          <a:solidFill>
            <a:srgbClr val="E7F3F1"/>
          </a:solidFill>
          <a:ln w="12700">
            <a:solidFill>
              <a:srgbClr val="0F766E"/>
            </a:solidFill>
            <a:prstDash val="solid"/>
          </a:ln>
        </p:spPr>
      </p:sp>
      <p:sp>
        <p:nvSpPr>
          <p:cNvPr id="30" name="Text 28"/>
          <p:cNvSpPr/>
          <p:nvPr/>
        </p:nvSpPr>
        <p:spPr>
          <a:xfrm>
            <a:off x="7313371" y="4133088"/>
            <a:ext cx="1217981" cy="420624"/>
          </a:xfrm>
          <a:prstGeom prst="rect">
            <a:avLst/>
          </a:prstGeom>
          <a:noFill/>
          <a:ln/>
        </p:spPr>
        <p:txBody>
          <a:bodyPr wrap="square" rtlCol="0" anchor="ctr"/>
          <a:lstStyle/>
          <a:p>
            <a:pPr algn="ctr" indent="0" marL="0">
              <a:buNone/>
            </a:pPr>
            <a:r>
              <a:rPr lang="en-US" sz="760" dirty="0">
                <a:solidFill>
                  <a:srgbClr val="3B4250"/>
                </a:solidFill>
                <a:latin typeface="Segoe UI" pitchFamily="34" charset="0"/>
                <a:ea typeface="Segoe UI" pitchFamily="34" charset="-122"/>
                <a:cs typeface="Segoe UI" pitchFamily="34" charset="-120"/>
              </a:rPr>
              <a:t>Circuit (if interactive)</a:t>
            </a:r>
            <a:endParaRPr lang="en-US" sz="7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566928" y="4668012"/>
            <a:ext cx="8010144" cy="10973"/>
          </a:xfrm>
          <a:prstGeom prst="rect">
            <a:avLst/>
          </a:prstGeom>
          <a:solidFill>
            <a:srgbClr val="E4E1DB"/>
          </a:solidFill>
          <a:ln/>
        </p:spPr>
      </p:sp>
      <p:sp>
        <p:nvSpPr>
          <p:cNvPr id="3" name="Text 1"/>
          <p:cNvSpPr/>
          <p:nvPr/>
        </p:nvSpPr>
        <p:spPr>
          <a:xfrm>
            <a:off x="566928" y="4722876"/>
            <a:ext cx="6408115" cy="274320"/>
          </a:xfrm>
          <a:prstGeom prst="rect">
            <a:avLst/>
          </a:prstGeom>
          <a:noFill/>
          <a:ln/>
        </p:spPr>
        <p:txBody>
          <a:bodyPr wrap="square" rtlCol="0" anchor="ctr"/>
          <a:lstStyle/>
          <a:p>
            <a:pPr indent="0" marL="0">
              <a:buNone/>
            </a:pPr>
            <a:r>
              <a:rPr lang="en-US" sz="800" dirty="0">
                <a:solidFill>
                  <a:srgbClr val="5B6472"/>
                </a:solidFill>
                <a:latin typeface="Segoe UI" pitchFamily="34" charset="0"/>
                <a:ea typeface="Segoe UI" pitchFamily="34" charset="-122"/>
                <a:cs typeface="Segoe UI" pitchFamily="34" charset="-120"/>
              </a:rPr>
              <a:t>Polypus  |  Architecture of the marketing website  |  owned by Axonite</a:t>
            </a:r>
            <a:endParaRPr lang="en-US" sz="800" dirty="0"/>
          </a:p>
        </p:txBody>
      </p:sp>
      <p:sp>
        <p:nvSpPr>
          <p:cNvPr id="4" name="Text 2"/>
          <p:cNvSpPr/>
          <p:nvPr/>
        </p:nvSpPr>
        <p:spPr>
          <a:xfrm>
            <a:off x="8028432" y="4722876"/>
            <a:ext cx="548640" cy="274320"/>
          </a:xfrm>
          <a:prstGeom prst="rect">
            <a:avLst/>
          </a:prstGeom>
          <a:noFill/>
          <a:ln/>
        </p:spPr>
        <p:txBody>
          <a:bodyPr wrap="square" rtlCol="0" anchor="ctr"/>
          <a:lstStyle/>
          <a:p>
            <a:pPr algn="r" indent="0" marL="0">
              <a:buNone/>
            </a:pPr>
            <a:r>
              <a:rPr lang="en-US" sz="800" dirty="0">
                <a:solidFill>
                  <a:srgbClr val="5B6472"/>
                </a:solidFill>
                <a:latin typeface="Consolas" pitchFamily="34" charset="0"/>
                <a:ea typeface="Consolas" pitchFamily="34" charset="-122"/>
                <a:cs typeface="Consolas" pitchFamily="34" charset="-120"/>
              </a:rPr>
              <a:t>7</a:t>
            </a:r>
            <a:endParaRPr lang="en-US" sz="800" dirty="0"/>
          </a:p>
        </p:txBody>
      </p:sp>
      <p:sp>
        <p:nvSpPr>
          <p:cNvPr id="5" name="Shape 3"/>
          <p:cNvSpPr/>
          <p:nvPr/>
        </p:nvSpPr>
        <p:spPr>
          <a:xfrm>
            <a:off x="566928" y="384048"/>
            <a:ext cx="420624" cy="50292"/>
          </a:xfrm>
          <a:prstGeom prst="rect">
            <a:avLst/>
          </a:prstGeom>
          <a:solidFill>
            <a:srgbClr val="0F766E"/>
          </a:solidFill>
          <a:ln/>
        </p:spPr>
      </p:sp>
      <p:sp>
        <p:nvSpPr>
          <p:cNvPr id="6" name="Text 4"/>
          <p:cNvSpPr/>
          <p:nvPr/>
        </p:nvSpPr>
        <p:spPr>
          <a:xfrm>
            <a:off x="566928" y="548640"/>
            <a:ext cx="8010144" cy="201168"/>
          </a:xfrm>
          <a:prstGeom prst="rect">
            <a:avLst/>
          </a:prstGeom>
          <a:noFill/>
          <a:ln/>
        </p:spPr>
        <p:txBody>
          <a:bodyPr wrap="square" rtlCol="0" anchor="ctr"/>
          <a:lstStyle/>
          <a:p>
            <a:pPr indent="0" marL="0">
              <a:buNone/>
            </a:pPr>
            <a:r>
              <a:rPr lang="en-US" sz="900" b="1" spc="140" kern="0" dirty="0">
                <a:solidFill>
                  <a:srgbClr val="0F766E"/>
                </a:solidFill>
                <a:latin typeface="Segoe UI" pitchFamily="34" charset="0"/>
                <a:ea typeface="Segoe UI" pitchFamily="34" charset="-122"/>
                <a:cs typeface="Segoe UI" pitchFamily="34" charset="-120"/>
              </a:rPr>
              <a:t>KEY REQUIREMENT</a:t>
            </a:r>
            <a:endParaRPr lang="en-US" sz="900" dirty="0"/>
          </a:p>
        </p:txBody>
      </p:sp>
      <p:sp>
        <p:nvSpPr>
          <p:cNvPr id="7" name="Text 5"/>
          <p:cNvSpPr/>
          <p:nvPr/>
        </p:nvSpPr>
        <p:spPr>
          <a:xfrm>
            <a:off x="566928" y="786384"/>
            <a:ext cx="8010144" cy="420624"/>
          </a:xfrm>
          <a:prstGeom prst="rect">
            <a:avLst/>
          </a:prstGeom>
          <a:noFill/>
          <a:ln/>
        </p:spPr>
        <p:txBody>
          <a:bodyPr wrap="square" rtlCol="0" anchor="ctr"/>
          <a:lstStyle/>
          <a:p>
            <a:pPr indent="0" marL="0">
              <a:buNone/>
            </a:pPr>
            <a:r>
              <a:rPr lang="en-US" sz="2400" dirty="0">
                <a:solidFill>
                  <a:srgbClr val="12151C"/>
                </a:solidFill>
                <a:latin typeface="Georgia" pitchFamily="34" charset="0"/>
                <a:ea typeface="Georgia" pitchFamily="34" charset="-122"/>
                <a:cs typeface="Georgia" pitchFamily="34" charset="-120"/>
              </a:rPr>
              <a:t>A plan click becomes a pre-filled enquiry</a:t>
            </a:r>
            <a:endParaRPr lang="en-US" sz="2400" dirty="0"/>
          </a:p>
        </p:txBody>
      </p:sp>
      <p:sp>
        <p:nvSpPr>
          <p:cNvPr id="8" name="Text 6"/>
          <p:cNvSpPr/>
          <p:nvPr/>
        </p:nvSpPr>
        <p:spPr>
          <a:xfrm>
            <a:off x="566928" y="1243584"/>
            <a:ext cx="8010144" cy="310896"/>
          </a:xfrm>
          <a:prstGeom prst="rect">
            <a:avLst/>
          </a:prstGeom>
          <a:noFill/>
          <a:ln/>
        </p:spPr>
        <p:txBody>
          <a:bodyPr wrap="square" rtlCol="0" anchor="t"/>
          <a:lstStyle/>
          <a:p>
            <a:pPr indent="0" marL="0">
              <a:buNone/>
            </a:pPr>
            <a:r>
              <a:rPr lang="en-US" sz="1050" dirty="0">
                <a:solidFill>
                  <a:srgbClr val="3B4250"/>
                </a:solidFill>
                <a:latin typeface="Segoe UI" pitchFamily="34" charset="0"/>
                <a:ea typeface="Segoe UI" pitchFamily="34" charset="-122"/>
                <a:cs typeface="Segoe UI" pitchFamily="34" charset="-120"/>
              </a:rPr>
              <a:t>The selected plan travels in the URL, is validated on arrival, and lands in the form - and nowhere else.</a:t>
            </a:r>
            <a:endParaRPr lang="en-US" sz="1050" dirty="0"/>
          </a:p>
        </p:txBody>
      </p:sp>
      <p:sp>
        <p:nvSpPr>
          <p:cNvPr id="9" name="Shape 7"/>
          <p:cNvSpPr/>
          <p:nvPr/>
        </p:nvSpPr>
        <p:spPr>
          <a:xfrm>
            <a:off x="566928" y="1828800"/>
            <a:ext cx="1847088" cy="1371600"/>
          </a:xfrm>
          <a:prstGeom prst="roundRect">
            <a:avLst>
              <a:gd name="adj" fmla="val 3333"/>
            </a:avLst>
          </a:prstGeom>
          <a:solidFill>
            <a:srgbClr val="FFFFFF"/>
          </a:solidFill>
          <a:ln w="15240">
            <a:solidFill>
              <a:srgbClr val="0F766E"/>
            </a:solidFill>
            <a:prstDash val="solid"/>
          </a:ln>
        </p:spPr>
      </p:sp>
      <p:sp>
        <p:nvSpPr>
          <p:cNvPr id="10" name="Text 8"/>
          <p:cNvSpPr/>
          <p:nvPr/>
        </p:nvSpPr>
        <p:spPr>
          <a:xfrm>
            <a:off x="676656" y="1938528"/>
            <a:ext cx="1627632" cy="420624"/>
          </a:xfrm>
          <a:prstGeom prst="rect">
            <a:avLst/>
          </a:prstGeom>
          <a:noFill/>
          <a:ln/>
        </p:spPr>
        <p:txBody>
          <a:bodyPr wrap="square" rtlCol="0" anchor="t"/>
          <a:lstStyle/>
          <a:p>
            <a:pPr indent="0" marL="0">
              <a:buNone/>
            </a:pPr>
            <a:r>
              <a:rPr lang="en-US" sz="1000" b="1" dirty="0">
                <a:solidFill>
                  <a:srgbClr val="12151C"/>
                </a:solidFill>
                <a:latin typeface="Segoe UI" pitchFamily="34" charset="0"/>
                <a:ea typeface="Segoe UI" pitchFamily="34" charset="-122"/>
                <a:cs typeface="Segoe UI" pitchFamily="34" charset="-120"/>
              </a:rPr>
              <a:t>PlanCard.razor</a:t>
            </a:r>
            <a:endParaRPr lang="en-US" sz="1000" dirty="0"/>
          </a:p>
        </p:txBody>
      </p:sp>
      <p:sp>
        <p:nvSpPr>
          <p:cNvPr id="11" name="Text 9"/>
          <p:cNvSpPr/>
          <p:nvPr/>
        </p:nvSpPr>
        <p:spPr>
          <a:xfrm>
            <a:off x="676656" y="2359152"/>
            <a:ext cx="1627632" cy="219456"/>
          </a:xfrm>
          <a:prstGeom prst="rect">
            <a:avLst/>
          </a:prstGeom>
          <a:noFill/>
          <a:ln/>
        </p:spPr>
        <p:txBody>
          <a:bodyPr wrap="square" rtlCol="0" anchor="ctr"/>
          <a:lstStyle/>
          <a:p>
            <a:pPr indent="0" marL="0">
              <a:buNone/>
            </a:pPr>
            <a:r>
              <a:rPr lang="en-US" sz="820" dirty="0">
                <a:solidFill>
                  <a:srgbClr val="5B6472"/>
                </a:solidFill>
                <a:latin typeface="Segoe UI" pitchFamily="34" charset="0"/>
                <a:ea typeface="Segoe UI" pitchFamily="34" charset="-122"/>
                <a:cs typeface="Segoe UI" pitchFamily="34" charset="-120"/>
              </a:rPr>
              <a:t>The CTA anchor</a:t>
            </a:r>
            <a:endParaRPr lang="en-US" sz="820" dirty="0"/>
          </a:p>
        </p:txBody>
      </p:sp>
      <p:sp>
        <p:nvSpPr>
          <p:cNvPr id="12" name="Text 10"/>
          <p:cNvSpPr/>
          <p:nvPr/>
        </p:nvSpPr>
        <p:spPr>
          <a:xfrm>
            <a:off x="676656" y="2596896"/>
            <a:ext cx="1627632" cy="512064"/>
          </a:xfrm>
          <a:prstGeom prst="rect">
            <a:avLst/>
          </a:prstGeom>
          <a:noFill/>
          <a:ln/>
        </p:spPr>
        <p:txBody>
          <a:bodyPr wrap="square" rtlCol="0" anchor="ctr"/>
          <a:lstStyle/>
          <a:p>
            <a:pPr indent="0" marL="0">
              <a:lnSpc>
                <a:spcPct val="110000"/>
              </a:lnSpc>
              <a:buNone/>
            </a:pPr>
            <a:r>
              <a:rPr lang="en-US" sz="680" dirty="0">
                <a:solidFill>
                  <a:srgbClr val="0F766E"/>
                </a:solidFill>
                <a:latin typeface="Consolas" pitchFamily="34" charset="0"/>
                <a:ea typeface="Consolas" pitchFamily="34" charset="-122"/>
                <a:cs typeface="Consolas" pitchFamily="34" charset="-120"/>
              </a:rPr>
              <a:t>href="/contact?plan=growth"</a:t>
            </a:r>
            <a:endParaRPr lang="en-US" sz="680" dirty="0"/>
          </a:p>
        </p:txBody>
      </p:sp>
      <p:sp>
        <p:nvSpPr>
          <p:cNvPr id="13" name="Text 11"/>
          <p:cNvSpPr/>
          <p:nvPr/>
        </p:nvSpPr>
        <p:spPr>
          <a:xfrm>
            <a:off x="2414016" y="1828800"/>
            <a:ext cx="384048" cy="1371600"/>
          </a:xfrm>
          <a:prstGeom prst="rect">
            <a:avLst/>
          </a:prstGeom>
          <a:noFill/>
          <a:ln/>
        </p:spPr>
        <p:txBody>
          <a:bodyPr wrap="square" rtlCol="0" anchor="ctr"/>
          <a:lstStyle/>
          <a:p>
            <a:pPr algn="ctr" indent="0" marL="0">
              <a:buNone/>
            </a:pPr>
            <a:r>
              <a:rPr lang="en-US" sz="1500" dirty="0">
                <a:solidFill>
                  <a:srgbClr val="0F766E"/>
                </a:solidFill>
                <a:latin typeface="Segoe UI" pitchFamily="34" charset="0"/>
                <a:ea typeface="Segoe UI" pitchFamily="34" charset="-122"/>
                <a:cs typeface="Segoe UI" pitchFamily="34" charset="-120"/>
              </a:rPr>
              <a:t>→</a:t>
            </a:r>
            <a:endParaRPr lang="en-US" sz="1500" dirty="0"/>
          </a:p>
        </p:txBody>
      </p:sp>
      <p:sp>
        <p:nvSpPr>
          <p:cNvPr id="14" name="Shape 12"/>
          <p:cNvSpPr/>
          <p:nvPr/>
        </p:nvSpPr>
        <p:spPr>
          <a:xfrm>
            <a:off x="2798064" y="1828800"/>
            <a:ext cx="1847088" cy="1371600"/>
          </a:xfrm>
          <a:prstGeom prst="roundRect">
            <a:avLst>
              <a:gd name="adj" fmla="val 3333"/>
            </a:avLst>
          </a:prstGeom>
          <a:solidFill>
            <a:srgbClr val="FFFFFF"/>
          </a:solidFill>
          <a:ln w="15240">
            <a:solidFill>
              <a:srgbClr val="0F766E"/>
            </a:solidFill>
            <a:prstDash val="solid"/>
          </a:ln>
        </p:spPr>
      </p:sp>
      <p:sp>
        <p:nvSpPr>
          <p:cNvPr id="15" name="Text 13"/>
          <p:cNvSpPr/>
          <p:nvPr/>
        </p:nvSpPr>
        <p:spPr>
          <a:xfrm>
            <a:off x="2907792" y="1938528"/>
            <a:ext cx="1627632" cy="420624"/>
          </a:xfrm>
          <a:prstGeom prst="rect">
            <a:avLst/>
          </a:prstGeom>
          <a:noFill/>
          <a:ln/>
        </p:spPr>
        <p:txBody>
          <a:bodyPr wrap="square" rtlCol="0" anchor="t"/>
          <a:lstStyle/>
          <a:p>
            <a:pPr indent="0" marL="0">
              <a:buNone/>
            </a:pPr>
            <a:r>
              <a:rPr lang="en-US" sz="1000" b="1" dirty="0">
                <a:solidFill>
                  <a:srgbClr val="12151C"/>
                </a:solidFill>
                <a:latin typeface="Segoe UI" pitchFamily="34" charset="0"/>
                <a:ea typeface="Segoe UI" pitchFamily="34" charset="-122"/>
                <a:cs typeface="Segoe UI" pitchFamily="34" charset="-120"/>
              </a:rPr>
              <a:t>Contact.razor</a:t>
            </a:r>
            <a:endParaRPr lang="en-US" sz="1000" dirty="0"/>
          </a:p>
        </p:txBody>
      </p:sp>
      <p:sp>
        <p:nvSpPr>
          <p:cNvPr id="16" name="Text 14"/>
          <p:cNvSpPr/>
          <p:nvPr/>
        </p:nvSpPr>
        <p:spPr>
          <a:xfrm>
            <a:off x="2907792" y="2359152"/>
            <a:ext cx="1627632" cy="219456"/>
          </a:xfrm>
          <a:prstGeom prst="rect">
            <a:avLst/>
          </a:prstGeom>
          <a:noFill/>
          <a:ln/>
        </p:spPr>
        <p:txBody>
          <a:bodyPr wrap="square" rtlCol="0" anchor="ctr"/>
          <a:lstStyle/>
          <a:p>
            <a:pPr indent="0" marL="0">
              <a:buNone/>
            </a:pPr>
            <a:r>
              <a:rPr lang="en-US" sz="820" dirty="0">
                <a:solidFill>
                  <a:srgbClr val="5B6472"/>
                </a:solidFill>
                <a:latin typeface="Segoe UI" pitchFamily="34" charset="0"/>
                <a:ea typeface="Segoe UI" pitchFamily="34" charset="-122"/>
                <a:cs typeface="Segoe UI" pitchFamily="34" charset="-120"/>
              </a:rPr>
              <a:t>Reads the query string</a:t>
            </a:r>
            <a:endParaRPr lang="en-US" sz="820" dirty="0"/>
          </a:p>
        </p:txBody>
      </p:sp>
      <p:sp>
        <p:nvSpPr>
          <p:cNvPr id="17" name="Text 15"/>
          <p:cNvSpPr/>
          <p:nvPr/>
        </p:nvSpPr>
        <p:spPr>
          <a:xfrm>
            <a:off x="2907792" y="2596896"/>
            <a:ext cx="1627632" cy="512064"/>
          </a:xfrm>
          <a:prstGeom prst="rect">
            <a:avLst/>
          </a:prstGeom>
          <a:noFill/>
          <a:ln/>
        </p:spPr>
        <p:txBody>
          <a:bodyPr wrap="square" rtlCol="0" anchor="ctr"/>
          <a:lstStyle/>
          <a:p>
            <a:pPr indent="0" marL="0">
              <a:lnSpc>
                <a:spcPct val="110000"/>
              </a:lnSpc>
              <a:buNone/>
            </a:pPr>
            <a:r>
              <a:rPr lang="en-US" sz="680" dirty="0">
                <a:solidFill>
                  <a:srgbClr val="0F766E"/>
                </a:solidFill>
                <a:latin typeface="Consolas" pitchFamily="34" charset="0"/>
                <a:ea typeface="Consolas" pitchFamily="34" charset="-122"/>
                <a:cs typeface="Consolas" pitchFamily="34" charset="-120"/>
              </a:rPr>
              <a:t>[SupplyParameterFromQuery(Name = "plan")]</a:t>
            </a:r>
            <a:endParaRPr lang="en-US" sz="680" dirty="0"/>
          </a:p>
        </p:txBody>
      </p:sp>
      <p:sp>
        <p:nvSpPr>
          <p:cNvPr id="18" name="Text 16"/>
          <p:cNvSpPr/>
          <p:nvPr/>
        </p:nvSpPr>
        <p:spPr>
          <a:xfrm>
            <a:off x="4645152" y="1828800"/>
            <a:ext cx="384048" cy="1371600"/>
          </a:xfrm>
          <a:prstGeom prst="rect">
            <a:avLst/>
          </a:prstGeom>
          <a:noFill/>
          <a:ln/>
        </p:spPr>
        <p:txBody>
          <a:bodyPr wrap="square" rtlCol="0" anchor="ctr"/>
          <a:lstStyle/>
          <a:p>
            <a:pPr algn="ctr" indent="0" marL="0">
              <a:buNone/>
            </a:pPr>
            <a:r>
              <a:rPr lang="en-US" sz="1500" dirty="0">
                <a:solidFill>
                  <a:srgbClr val="0F766E"/>
                </a:solidFill>
                <a:latin typeface="Segoe UI" pitchFamily="34" charset="0"/>
                <a:ea typeface="Segoe UI" pitchFamily="34" charset="-122"/>
                <a:cs typeface="Segoe UI" pitchFamily="34" charset="-120"/>
              </a:rPr>
              <a:t>→</a:t>
            </a:r>
            <a:endParaRPr lang="en-US" sz="1500" dirty="0"/>
          </a:p>
        </p:txBody>
      </p:sp>
      <p:sp>
        <p:nvSpPr>
          <p:cNvPr id="19" name="Shape 17"/>
          <p:cNvSpPr/>
          <p:nvPr/>
        </p:nvSpPr>
        <p:spPr>
          <a:xfrm>
            <a:off x="5029200" y="1828800"/>
            <a:ext cx="1847088" cy="1371600"/>
          </a:xfrm>
          <a:prstGeom prst="roundRect">
            <a:avLst>
              <a:gd name="adj" fmla="val 3333"/>
            </a:avLst>
          </a:prstGeom>
          <a:solidFill>
            <a:srgbClr val="FFFFFF"/>
          </a:solidFill>
          <a:ln w="15240">
            <a:solidFill>
              <a:srgbClr val="0F766E"/>
            </a:solidFill>
            <a:prstDash val="solid"/>
          </a:ln>
        </p:spPr>
      </p:sp>
      <p:sp>
        <p:nvSpPr>
          <p:cNvPr id="20" name="Text 18"/>
          <p:cNvSpPr/>
          <p:nvPr/>
        </p:nvSpPr>
        <p:spPr>
          <a:xfrm>
            <a:off x="5138928" y="1938528"/>
            <a:ext cx="1627632" cy="420624"/>
          </a:xfrm>
          <a:prstGeom prst="rect">
            <a:avLst/>
          </a:prstGeom>
          <a:noFill/>
          <a:ln/>
        </p:spPr>
        <p:txBody>
          <a:bodyPr wrap="square" rtlCol="0" anchor="t"/>
          <a:lstStyle/>
          <a:p>
            <a:pPr indent="0" marL="0">
              <a:buNone/>
            </a:pPr>
            <a:r>
              <a:rPr lang="en-US" sz="1000" b="1" dirty="0">
                <a:solidFill>
                  <a:srgbClr val="12151C"/>
                </a:solidFill>
                <a:latin typeface="Segoe UI" pitchFamily="34" charset="0"/>
                <a:ea typeface="Segoe UI" pitchFamily="34" charset="-122"/>
                <a:cs typeface="Segoe UI" pitchFamily="34" charset="-120"/>
              </a:rPr>
              <a:t>PlanCatalog.Find()</a:t>
            </a:r>
            <a:endParaRPr lang="en-US" sz="1000" dirty="0"/>
          </a:p>
        </p:txBody>
      </p:sp>
      <p:sp>
        <p:nvSpPr>
          <p:cNvPr id="21" name="Text 19"/>
          <p:cNvSpPr/>
          <p:nvPr/>
        </p:nvSpPr>
        <p:spPr>
          <a:xfrm>
            <a:off x="5138928" y="2359152"/>
            <a:ext cx="1627632" cy="219456"/>
          </a:xfrm>
          <a:prstGeom prst="rect">
            <a:avLst/>
          </a:prstGeom>
          <a:noFill/>
          <a:ln/>
        </p:spPr>
        <p:txBody>
          <a:bodyPr wrap="square" rtlCol="0" anchor="ctr"/>
          <a:lstStyle/>
          <a:p>
            <a:pPr indent="0" marL="0">
              <a:buNone/>
            </a:pPr>
            <a:r>
              <a:rPr lang="en-US" sz="820" dirty="0">
                <a:solidFill>
                  <a:srgbClr val="5B6472"/>
                </a:solidFill>
                <a:latin typeface="Segoe UI" pitchFamily="34" charset="0"/>
                <a:ea typeface="Segoe UI" pitchFamily="34" charset="-122"/>
                <a:cs typeface="Segoe UI" pitchFamily="34" charset="-120"/>
              </a:rPr>
              <a:t>Resolves it safely</a:t>
            </a:r>
            <a:endParaRPr lang="en-US" sz="820" dirty="0"/>
          </a:p>
        </p:txBody>
      </p:sp>
      <p:sp>
        <p:nvSpPr>
          <p:cNvPr id="22" name="Text 20"/>
          <p:cNvSpPr/>
          <p:nvPr/>
        </p:nvSpPr>
        <p:spPr>
          <a:xfrm>
            <a:off x="5138928" y="2596896"/>
            <a:ext cx="1627632" cy="512064"/>
          </a:xfrm>
          <a:prstGeom prst="rect">
            <a:avLst/>
          </a:prstGeom>
          <a:noFill/>
          <a:ln/>
        </p:spPr>
        <p:txBody>
          <a:bodyPr wrap="square" rtlCol="0" anchor="ctr"/>
          <a:lstStyle/>
          <a:p>
            <a:pPr indent="0" marL="0">
              <a:lnSpc>
                <a:spcPct val="110000"/>
              </a:lnSpc>
              <a:buNone/>
            </a:pPr>
            <a:r>
              <a:rPr lang="en-US" sz="680" dirty="0">
                <a:solidFill>
                  <a:srgbClr val="0F766E"/>
                </a:solidFill>
                <a:latin typeface="Consolas" pitchFamily="34" charset="0"/>
                <a:ea typeface="Consolas" pitchFamily="34" charset="-122"/>
                <a:cs typeface="Consolas" pitchFamily="34" charset="-120"/>
              </a:rPr>
              <a:t>returns Plan?  -  null when unknown</a:t>
            </a:r>
            <a:endParaRPr lang="en-US" sz="680" dirty="0"/>
          </a:p>
        </p:txBody>
      </p:sp>
      <p:sp>
        <p:nvSpPr>
          <p:cNvPr id="23" name="Text 21"/>
          <p:cNvSpPr/>
          <p:nvPr/>
        </p:nvSpPr>
        <p:spPr>
          <a:xfrm>
            <a:off x="6876288" y="1828800"/>
            <a:ext cx="384048" cy="1371600"/>
          </a:xfrm>
          <a:prstGeom prst="rect">
            <a:avLst/>
          </a:prstGeom>
          <a:noFill/>
          <a:ln/>
        </p:spPr>
        <p:txBody>
          <a:bodyPr wrap="square" rtlCol="0" anchor="ctr"/>
          <a:lstStyle/>
          <a:p>
            <a:pPr algn="ctr" indent="0" marL="0">
              <a:buNone/>
            </a:pPr>
            <a:r>
              <a:rPr lang="en-US" sz="1500" dirty="0">
                <a:solidFill>
                  <a:srgbClr val="0F766E"/>
                </a:solidFill>
                <a:latin typeface="Segoe UI" pitchFamily="34" charset="0"/>
                <a:ea typeface="Segoe UI" pitchFamily="34" charset="-122"/>
                <a:cs typeface="Segoe UI" pitchFamily="34" charset="-120"/>
              </a:rPr>
              <a:t>→</a:t>
            </a:r>
            <a:endParaRPr lang="en-US" sz="1500" dirty="0"/>
          </a:p>
        </p:txBody>
      </p:sp>
      <p:sp>
        <p:nvSpPr>
          <p:cNvPr id="24" name="Shape 22"/>
          <p:cNvSpPr/>
          <p:nvPr/>
        </p:nvSpPr>
        <p:spPr>
          <a:xfrm>
            <a:off x="7260336" y="1828800"/>
            <a:ext cx="1847088" cy="1371600"/>
          </a:xfrm>
          <a:prstGeom prst="roundRect">
            <a:avLst>
              <a:gd name="adj" fmla="val 3333"/>
            </a:avLst>
          </a:prstGeom>
          <a:solidFill>
            <a:srgbClr val="FFFFFF"/>
          </a:solidFill>
          <a:ln w="15240">
            <a:solidFill>
              <a:srgbClr val="0F766E"/>
            </a:solidFill>
            <a:prstDash val="solid"/>
          </a:ln>
        </p:spPr>
      </p:sp>
      <p:sp>
        <p:nvSpPr>
          <p:cNvPr id="25" name="Text 23"/>
          <p:cNvSpPr/>
          <p:nvPr/>
        </p:nvSpPr>
        <p:spPr>
          <a:xfrm>
            <a:off x="7370064" y="1938528"/>
            <a:ext cx="1627632" cy="420624"/>
          </a:xfrm>
          <a:prstGeom prst="rect">
            <a:avLst/>
          </a:prstGeom>
          <a:noFill/>
          <a:ln/>
        </p:spPr>
        <p:txBody>
          <a:bodyPr wrap="square" rtlCol="0" anchor="t"/>
          <a:lstStyle/>
          <a:p>
            <a:pPr indent="0" marL="0">
              <a:buNone/>
            </a:pPr>
            <a:r>
              <a:rPr lang="en-US" sz="1000" b="1" dirty="0">
                <a:solidFill>
                  <a:srgbClr val="12151C"/>
                </a:solidFill>
                <a:latin typeface="Segoe UI" pitchFamily="34" charset="0"/>
                <a:ea typeface="Segoe UI" pitchFamily="34" charset="-122"/>
                <a:cs typeface="Segoe UI" pitchFamily="34" charset="-120"/>
              </a:rPr>
              <a:t>The form</a:t>
            </a:r>
            <a:endParaRPr lang="en-US" sz="1000" dirty="0"/>
          </a:p>
        </p:txBody>
      </p:sp>
      <p:sp>
        <p:nvSpPr>
          <p:cNvPr id="26" name="Text 24"/>
          <p:cNvSpPr/>
          <p:nvPr/>
        </p:nvSpPr>
        <p:spPr>
          <a:xfrm>
            <a:off x="7370064" y="2359152"/>
            <a:ext cx="1627632" cy="219456"/>
          </a:xfrm>
          <a:prstGeom prst="rect">
            <a:avLst/>
          </a:prstGeom>
          <a:noFill/>
          <a:ln/>
        </p:spPr>
        <p:txBody>
          <a:bodyPr wrap="square" rtlCol="0" anchor="ctr"/>
          <a:lstStyle/>
          <a:p>
            <a:pPr indent="0" marL="0">
              <a:buNone/>
            </a:pPr>
            <a:r>
              <a:rPr lang="en-US" sz="820" dirty="0">
                <a:solidFill>
                  <a:srgbClr val="5B6472"/>
                </a:solidFill>
                <a:latin typeface="Segoe UI" pitchFamily="34" charset="0"/>
                <a:ea typeface="Segoe UI" pitchFamily="34" charset="-122"/>
                <a:cs typeface="Segoe UI" pitchFamily="34" charset="-120"/>
              </a:rPr>
              <a:t>Preselected and summarised</a:t>
            </a:r>
            <a:endParaRPr lang="en-US" sz="820" dirty="0"/>
          </a:p>
        </p:txBody>
      </p:sp>
      <p:sp>
        <p:nvSpPr>
          <p:cNvPr id="27" name="Text 25"/>
          <p:cNvSpPr/>
          <p:nvPr/>
        </p:nvSpPr>
        <p:spPr>
          <a:xfrm>
            <a:off x="7370064" y="2596896"/>
            <a:ext cx="1627632" cy="512064"/>
          </a:xfrm>
          <a:prstGeom prst="rect">
            <a:avLst/>
          </a:prstGeom>
          <a:noFill/>
          <a:ln/>
        </p:spPr>
        <p:txBody>
          <a:bodyPr wrap="square" rtlCol="0" anchor="ctr"/>
          <a:lstStyle/>
          <a:p>
            <a:pPr indent="0" marL="0">
              <a:lnSpc>
                <a:spcPct val="110000"/>
              </a:lnSpc>
              <a:buNone/>
            </a:pPr>
            <a:r>
              <a:rPr lang="en-US" sz="680" dirty="0">
                <a:solidFill>
                  <a:srgbClr val="0F766E"/>
                </a:solidFill>
                <a:latin typeface="Consolas" pitchFamily="34" charset="0"/>
                <a:ea typeface="Consolas" pitchFamily="34" charset="-122"/>
                <a:cs typeface="Consolas" pitchFamily="34" charset="-120"/>
              </a:rPr>
              <a:t>&lt;select#plan&gt; + .plan-summary panel</a:t>
            </a:r>
            <a:endParaRPr lang="en-US" sz="680" dirty="0"/>
          </a:p>
        </p:txBody>
      </p:sp>
      <p:sp>
        <p:nvSpPr>
          <p:cNvPr id="28" name="Shape 26"/>
          <p:cNvSpPr/>
          <p:nvPr/>
        </p:nvSpPr>
        <p:spPr>
          <a:xfrm>
            <a:off x="566928" y="3401568"/>
            <a:ext cx="8010144" cy="603504"/>
          </a:xfrm>
          <a:prstGeom prst="roundRect">
            <a:avLst>
              <a:gd name="adj" fmla="val 6061"/>
            </a:avLst>
          </a:prstGeom>
          <a:solidFill>
            <a:srgbClr val="E7F3F1"/>
          </a:solidFill>
          <a:ln w="10160">
            <a:solidFill>
              <a:srgbClr val="0F766E"/>
            </a:solidFill>
            <a:prstDash val="solid"/>
          </a:ln>
        </p:spPr>
      </p:sp>
      <p:sp>
        <p:nvSpPr>
          <p:cNvPr id="29" name="Text 27"/>
          <p:cNvSpPr/>
          <p:nvPr/>
        </p:nvSpPr>
        <p:spPr>
          <a:xfrm>
            <a:off x="768096" y="3401568"/>
            <a:ext cx="7607808" cy="603504"/>
          </a:xfrm>
          <a:prstGeom prst="rect">
            <a:avLst/>
          </a:prstGeom>
          <a:noFill/>
          <a:ln/>
        </p:spPr>
        <p:txBody>
          <a:bodyPr wrap="square" rtlCol="0" anchor="ctr"/>
          <a:lstStyle/>
          <a:p>
            <a:pPr indent="0" marL="0">
              <a:lnSpc>
                <a:spcPct val="115000"/>
              </a:lnSpc>
              <a:buNone/>
            </a:pPr>
            <a:r>
              <a:rPr lang="en-US" sz="880" b="1" dirty="0">
                <a:solidFill>
                  <a:srgbClr val="12151C"/>
                </a:solidFill>
                <a:latin typeface="Segoe UI" pitchFamily="34" charset="0"/>
                <a:ea typeface="Segoe UI" pitchFamily="34" charset="-122"/>
                <a:cs typeface="Segoe UI" pitchFamily="34" charset="-120"/>
              </a:rPr>
              <a:t>Alias tolerance:  </a:t>
            </a:r>
            <a:pPr indent="0" marL="0">
              <a:lnSpc>
                <a:spcPct val="115000"/>
              </a:lnSpc>
              <a:buNone/>
            </a:pPr>
            <a:r>
              <a:rPr lang="en-US" sz="880" dirty="0">
                <a:solidFill>
                  <a:srgbClr val="3B4250"/>
                </a:solidFill>
                <a:latin typeface="Segoe UI" pitchFamily="34" charset="0"/>
                <a:ea typeface="Segoe UI" pitchFamily="34" charset="-122"/>
                <a:cs typeface="Segoe UI" pitchFamily="34" charset="-120"/>
              </a:rPr>
              <a:t>starter → basic     pro → growth     scale → business     custom → enterprise.     </a:t>
            </a:r>
            <a:pPr indent="0" marL="0">
              <a:lnSpc>
                <a:spcPct val="115000"/>
              </a:lnSpc>
              <a:buNone/>
            </a:pPr>
            <a:r>
              <a:rPr lang="en-US" sz="880" dirty="0">
                <a:solidFill>
                  <a:srgbClr val="5B6472"/>
                </a:solidFill>
                <a:latin typeface="Segoe UI" pitchFamily="34" charset="0"/>
                <a:ea typeface="Segoe UI" pitchFamily="34" charset="-122"/>
                <a:cs typeface="Segoe UI" pitchFamily="34" charset="-120"/>
              </a:rPr>
              <a:t>An unrecognised value such as ?plan=nonsense is harmless: Find() returns null and the form simply loads with no plan selected.</a:t>
            </a:r>
            <a:endParaRPr lang="en-US" sz="880" dirty="0"/>
          </a:p>
        </p:txBody>
      </p:sp>
      <p:sp>
        <p:nvSpPr>
          <p:cNvPr id="30" name="Text 28"/>
          <p:cNvSpPr/>
          <p:nvPr/>
        </p:nvSpPr>
        <p:spPr>
          <a:xfrm>
            <a:off x="566928" y="4169664"/>
            <a:ext cx="8010144" cy="274320"/>
          </a:xfrm>
          <a:prstGeom prst="rect">
            <a:avLst/>
          </a:prstGeom>
          <a:noFill/>
          <a:ln/>
        </p:spPr>
        <p:txBody>
          <a:bodyPr wrap="square" rtlCol="0" anchor="ctr"/>
          <a:lstStyle/>
          <a:p>
            <a:pPr indent="0" marL="0">
              <a:buNone/>
            </a:pPr>
            <a:r>
              <a:rPr lang="en-US" sz="850" i="1" dirty="0">
                <a:solidFill>
                  <a:srgbClr val="5B6472"/>
                </a:solidFill>
                <a:latin typeface="Segoe UI" pitchFamily="34" charset="0"/>
                <a:ea typeface="Segoe UI" pitchFamily="34" charset="-122"/>
                <a:cs typeface="Segoe UI" pitchFamily="34" charset="-120"/>
              </a:rPr>
              <a:t>Verified by clicking each plan on every page:  /contact?plan=basic, growth, business, enterprise  -  all resolve with the plan selected.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566928" y="4668012"/>
            <a:ext cx="8010144" cy="10973"/>
          </a:xfrm>
          <a:prstGeom prst="rect">
            <a:avLst/>
          </a:prstGeom>
          <a:solidFill>
            <a:srgbClr val="E4E1DB"/>
          </a:solidFill>
          <a:ln/>
        </p:spPr>
      </p:sp>
      <p:sp>
        <p:nvSpPr>
          <p:cNvPr id="3" name="Text 1"/>
          <p:cNvSpPr/>
          <p:nvPr/>
        </p:nvSpPr>
        <p:spPr>
          <a:xfrm>
            <a:off x="566928" y="4722876"/>
            <a:ext cx="6408115" cy="274320"/>
          </a:xfrm>
          <a:prstGeom prst="rect">
            <a:avLst/>
          </a:prstGeom>
          <a:noFill/>
          <a:ln/>
        </p:spPr>
        <p:txBody>
          <a:bodyPr wrap="square" rtlCol="0" anchor="ctr"/>
          <a:lstStyle/>
          <a:p>
            <a:pPr indent="0" marL="0">
              <a:buNone/>
            </a:pPr>
            <a:r>
              <a:rPr lang="en-US" sz="800" dirty="0">
                <a:solidFill>
                  <a:srgbClr val="5B6472"/>
                </a:solidFill>
                <a:latin typeface="Segoe UI" pitchFamily="34" charset="0"/>
                <a:ea typeface="Segoe UI" pitchFamily="34" charset="-122"/>
                <a:cs typeface="Segoe UI" pitchFamily="34" charset="-120"/>
              </a:rPr>
              <a:t>Polypus  |  Architecture of the marketing website  |  owned by Axonite</a:t>
            </a:r>
            <a:endParaRPr lang="en-US" sz="800" dirty="0"/>
          </a:p>
        </p:txBody>
      </p:sp>
      <p:sp>
        <p:nvSpPr>
          <p:cNvPr id="4" name="Text 2"/>
          <p:cNvSpPr/>
          <p:nvPr/>
        </p:nvSpPr>
        <p:spPr>
          <a:xfrm>
            <a:off x="8028432" y="4722876"/>
            <a:ext cx="548640" cy="274320"/>
          </a:xfrm>
          <a:prstGeom prst="rect">
            <a:avLst/>
          </a:prstGeom>
          <a:noFill/>
          <a:ln/>
        </p:spPr>
        <p:txBody>
          <a:bodyPr wrap="square" rtlCol="0" anchor="ctr"/>
          <a:lstStyle/>
          <a:p>
            <a:pPr algn="r" indent="0" marL="0">
              <a:buNone/>
            </a:pPr>
            <a:r>
              <a:rPr lang="en-US" sz="800" dirty="0">
                <a:solidFill>
                  <a:srgbClr val="5B6472"/>
                </a:solidFill>
                <a:latin typeface="Consolas" pitchFamily="34" charset="0"/>
                <a:ea typeface="Consolas" pitchFamily="34" charset="-122"/>
                <a:cs typeface="Consolas" pitchFamily="34" charset="-120"/>
              </a:rPr>
              <a:t>8</a:t>
            </a:r>
            <a:endParaRPr lang="en-US" sz="800" dirty="0"/>
          </a:p>
        </p:txBody>
      </p:sp>
      <p:sp>
        <p:nvSpPr>
          <p:cNvPr id="5" name="Shape 3"/>
          <p:cNvSpPr/>
          <p:nvPr/>
        </p:nvSpPr>
        <p:spPr>
          <a:xfrm>
            <a:off x="566928" y="384048"/>
            <a:ext cx="420624" cy="50292"/>
          </a:xfrm>
          <a:prstGeom prst="rect">
            <a:avLst/>
          </a:prstGeom>
          <a:solidFill>
            <a:srgbClr val="0F766E"/>
          </a:solidFill>
          <a:ln/>
        </p:spPr>
      </p:sp>
      <p:sp>
        <p:nvSpPr>
          <p:cNvPr id="6" name="Text 4"/>
          <p:cNvSpPr/>
          <p:nvPr/>
        </p:nvSpPr>
        <p:spPr>
          <a:xfrm>
            <a:off x="566928" y="548640"/>
            <a:ext cx="8010144" cy="201168"/>
          </a:xfrm>
          <a:prstGeom prst="rect">
            <a:avLst/>
          </a:prstGeom>
          <a:noFill/>
          <a:ln/>
        </p:spPr>
        <p:txBody>
          <a:bodyPr wrap="square" rtlCol="0" anchor="ctr"/>
          <a:lstStyle/>
          <a:p>
            <a:pPr indent="0" marL="0">
              <a:buNone/>
            </a:pPr>
            <a:r>
              <a:rPr lang="en-US" sz="900" b="1" spc="140" kern="0" dirty="0">
                <a:solidFill>
                  <a:srgbClr val="0F766E"/>
                </a:solidFill>
                <a:latin typeface="Segoe UI" pitchFamily="34" charset="0"/>
                <a:ea typeface="Segoe UI" pitchFamily="34" charset="-122"/>
                <a:cs typeface="Segoe UI" pitchFamily="34" charset="-120"/>
              </a:rPr>
              <a:t>CONTENT</a:t>
            </a:r>
            <a:endParaRPr lang="en-US" sz="900" dirty="0"/>
          </a:p>
        </p:txBody>
      </p:sp>
      <p:sp>
        <p:nvSpPr>
          <p:cNvPr id="7" name="Text 5"/>
          <p:cNvSpPr/>
          <p:nvPr/>
        </p:nvSpPr>
        <p:spPr>
          <a:xfrm>
            <a:off x="566928" y="786384"/>
            <a:ext cx="8010144" cy="420624"/>
          </a:xfrm>
          <a:prstGeom prst="rect">
            <a:avLst/>
          </a:prstGeom>
          <a:noFill/>
          <a:ln/>
        </p:spPr>
        <p:txBody>
          <a:bodyPr wrap="square" rtlCol="0" anchor="ctr"/>
          <a:lstStyle/>
          <a:p>
            <a:pPr indent="0" marL="0">
              <a:buNone/>
            </a:pPr>
            <a:r>
              <a:rPr lang="en-US" sz="2400" dirty="0">
                <a:solidFill>
                  <a:srgbClr val="12151C"/>
                </a:solidFill>
                <a:latin typeface="Georgia" pitchFamily="34" charset="0"/>
                <a:ea typeface="Georgia" pitchFamily="34" charset="-122"/>
                <a:cs typeface="Georgia" pitchFamily="34" charset="-120"/>
              </a:rPr>
              <a:t>The site’s words live in code, not markup</a:t>
            </a:r>
            <a:endParaRPr lang="en-US" sz="2400" dirty="0"/>
          </a:p>
        </p:txBody>
      </p:sp>
      <p:sp>
        <p:nvSpPr>
          <p:cNvPr id="8" name="Text 6"/>
          <p:cNvSpPr/>
          <p:nvPr/>
        </p:nvSpPr>
        <p:spPr>
          <a:xfrm>
            <a:off x="566928" y="1243584"/>
            <a:ext cx="8010144" cy="310896"/>
          </a:xfrm>
          <a:prstGeom prst="rect">
            <a:avLst/>
          </a:prstGeom>
          <a:noFill/>
          <a:ln/>
        </p:spPr>
        <p:txBody>
          <a:bodyPr wrap="square" rtlCol="0" anchor="t"/>
          <a:lstStyle/>
          <a:p>
            <a:pPr indent="0" marL="0">
              <a:buNone/>
            </a:pPr>
            <a:r>
              <a:rPr lang="en-US" sz="1050" dirty="0">
                <a:solidFill>
                  <a:srgbClr val="3B4250"/>
                </a:solidFill>
                <a:latin typeface="Segoe UI" pitchFamily="34" charset="0"/>
                <a:ea typeface="Segoe UI" pitchFamily="34" charset="-122"/>
                <a:cs typeface="Segoe UI" pitchFamily="34" charset="-120"/>
              </a:rPr>
              <a:t>Five catalogs hold every price, feature and link. Change one value and it updates everywhere it appears.</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8010144" cy="914400"/>
        </p:xfrm>
        <a:graphic>
          <a:graphicData uri="http://schemas.openxmlformats.org/drawingml/2006/table">
            <a:tbl>
              <a:tblPr/>
              <a:tblGrid>
                <a:gridCol w="2148840"/>
                <a:gridCol w="3703320"/>
                <a:gridCol w="2157984"/>
              </a:tblGrid>
              <a:tr h="306324">
                <a:tc>
                  <a:txBody>
                    <a:bodyPr/>
                    <a:lstStyle/>
                    <a:p>
                      <a:pPr algn="l" indent="0" marL="0">
                        <a:buNone/>
                      </a:pPr>
                      <a:r>
                        <a:rPr lang="en-US" sz="950" b="1" dirty="0">
                          <a:solidFill>
                            <a:srgbClr val="3B4250"/>
                          </a:solidFill>
                          <a:latin typeface="Segoe UI" pitchFamily="34" charset="0"/>
                          <a:ea typeface="Segoe UI" pitchFamily="34" charset="-122"/>
                          <a:cs typeface="Segoe UI" pitchFamily="34" charset="-120"/>
                        </a:rPr>
                        <a:t>Catalog</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3B4250"/>
                          </a:solidFill>
                          <a:latin typeface="Segoe UI" pitchFamily="34" charset="0"/>
                          <a:ea typeface="Segoe UI" pitchFamily="34" charset="-122"/>
                          <a:cs typeface="Segoe UI" pitchFamily="34" charset="-120"/>
                        </a:rPr>
                        <a:t>Owns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3B4250"/>
                          </a:solidFill>
                          <a:latin typeface="Segoe UI" pitchFamily="34" charset="0"/>
                          <a:ea typeface="Segoe UI" pitchFamily="34" charset="-122"/>
                          <a:cs typeface="Segoe UI" pitchFamily="34" charset="-120"/>
                        </a:rPr>
                        <a:t>Drives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PlanCatalog.cs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Four plans, prices, billing cycles, aliases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Home, /plans, contact summary</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FeatureCatalog.cs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Eight capabilities with detail bullets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Home grid, /features, /product</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TestimonialCatalog.cs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Five quotes, one flagged as featured</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Home testimonial section</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FaqCatalog.cs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Twelve FAQs with categories and search</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Home, /plans, /help, /integrations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NavigationCatalog.cs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Header dropdown and four footer columns</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3B4250"/>
                          </a:solidFill>
                          <a:latin typeface="Segoe UI" pitchFamily="34" charset="0"/>
                          <a:ea typeface="Segoe UI" pitchFamily="34" charset="-122"/>
                          <a:cs typeface="Segoe UI" pitchFamily="34" charset="-120"/>
                        </a:rPr>
                        <a:t>Every page’s header and footer</a:t>
                      </a:r>
                      <a:endParaRPr lang="en-US" sz="95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bl>
          </a:graphicData>
        </a:graphic>
      </p:graphicFrame>
      <p:sp>
        <p:nvSpPr>
          <p:cNvPr id="10" name="Shape 7"/>
          <p:cNvSpPr/>
          <p:nvPr/>
        </p:nvSpPr>
        <p:spPr>
          <a:xfrm>
            <a:off x="566928" y="3657600"/>
            <a:ext cx="8010144" cy="859536"/>
          </a:xfrm>
          <a:prstGeom prst="roundRect">
            <a:avLst>
              <a:gd name="adj" fmla="val 5319"/>
            </a:avLst>
          </a:prstGeom>
          <a:solidFill>
            <a:srgbClr val="0B1220"/>
          </a:solidFill>
          <a:ln w="12700">
            <a:solidFill>
              <a:srgbClr val="0B1220"/>
            </a:solidFill>
            <a:prstDash val="solid"/>
          </a:ln>
        </p:spPr>
      </p:sp>
      <p:sp>
        <p:nvSpPr>
          <p:cNvPr id="11" name="Text 8"/>
          <p:cNvSpPr/>
          <p:nvPr/>
        </p:nvSpPr>
        <p:spPr>
          <a:xfrm>
            <a:off x="804672" y="3739896"/>
            <a:ext cx="7315200" cy="201168"/>
          </a:xfrm>
          <a:prstGeom prst="rect">
            <a:avLst/>
          </a:prstGeom>
          <a:noFill/>
          <a:ln/>
        </p:spPr>
        <p:txBody>
          <a:bodyPr wrap="square" rtlCol="0" anchor="ctr"/>
          <a:lstStyle/>
          <a:p>
            <a:pPr indent="0" marL="0">
              <a:buNone/>
            </a:pPr>
            <a:r>
              <a:rPr lang="en-US" sz="760" b="1" spc="140" kern="0" dirty="0">
                <a:solidFill>
                  <a:srgbClr val="14B8A6"/>
                </a:solidFill>
                <a:latin typeface="Segoe UI" pitchFamily="34" charset="0"/>
                <a:ea typeface="Segoe UI" pitchFamily="34" charset="-122"/>
                <a:cs typeface="Segoe UI" pitchFamily="34" charset="-120"/>
              </a:rPr>
              <a:t>CHANGING THE GROWTH PLAN PRICE</a:t>
            </a:r>
            <a:endParaRPr lang="en-US" sz="760" dirty="0"/>
          </a:p>
        </p:txBody>
      </p:sp>
      <p:sp>
        <p:nvSpPr>
          <p:cNvPr id="12" name="Text 9"/>
          <p:cNvSpPr/>
          <p:nvPr/>
        </p:nvSpPr>
        <p:spPr>
          <a:xfrm>
            <a:off x="804672" y="3950208"/>
            <a:ext cx="7534656" cy="457200"/>
          </a:xfrm>
          <a:prstGeom prst="rect">
            <a:avLst/>
          </a:prstGeom>
          <a:noFill/>
          <a:ln/>
        </p:spPr>
        <p:txBody>
          <a:bodyPr wrap="square" rtlCol="0" anchor="ctr"/>
          <a:lstStyle/>
          <a:p>
            <a:pPr indent="0" marL="0">
              <a:lnSpc>
                <a:spcPct val="120000"/>
              </a:lnSpc>
              <a:buNone/>
            </a:pPr>
            <a:r>
              <a:rPr lang="en-US" sz="840" dirty="0">
                <a:solidFill>
                  <a:srgbClr val="E6E9EE"/>
                </a:solidFill>
                <a:latin typeface="Consolas" pitchFamily="34" charset="0"/>
                <a:ea typeface="Consolas" pitchFamily="34" charset="-122"/>
                <a:cs typeface="Consolas" pitchFamily="34" charset="-120"/>
              </a:rPr>
              <a:t>MonthlyPrice = 1_450m</a:t>
            </a:r>
            <a:pPr indent="0" marL="0">
              <a:lnSpc>
                <a:spcPct val="120000"/>
              </a:lnSpc>
              <a:buNone/>
            </a:pPr>
            <a:r>
              <a:rPr lang="en-US" sz="840" dirty="0">
                <a:solidFill>
                  <a:srgbClr val="14B8A6"/>
                </a:solidFill>
                <a:latin typeface="Consolas" pitchFamily="34" charset="0"/>
                <a:ea typeface="Consolas" pitchFamily="34" charset="-122"/>
                <a:cs typeface="Consolas" pitchFamily="34" charset="-120"/>
              </a:rPr>
              <a:t>   →   </a:t>
            </a:r>
            <a:pPr indent="0" marL="0">
              <a:lnSpc>
                <a:spcPct val="120000"/>
              </a:lnSpc>
              <a:buNone/>
            </a:pPr>
            <a:r>
              <a:rPr lang="en-US" sz="840" b="1" dirty="0">
                <a:solidFill>
                  <a:srgbClr val="14B8A6"/>
                </a:solidFill>
                <a:latin typeface="Consolas" pitchFamily="34" charset="0"/>
                <a:ea typeface="Consolas" pitchFamily="34" charset="-122"/>
                <a:cs typeface="Consolas" pitchFamily="34" charset="-120"/>
              </a:rPr>
              <a:t>edited once in Services/PlanCatalog.cs</a:t>
            </a:r>
            <a:pPr indent="0" marL="0">
              <a:lnSpc>
                <a:spcPct val="120000"/>
              </a:lnSpc>
              <a:buNone/>
            </a:pPr>
            <a:r>
              <a:rPr lang="en-US" sz="840" dirty="0">
                <a:solidFill>
                  <a:srgbClr val="14B8A6"/>
                </a:solidFill>
                <a:latin typeface="Consolas" pitchFamily="34" charset="0"/>
                <a:ea typeface="Consolas" pitchFamily="34" charset="-122"/>
                <a:cs typeface="Consolas" pitchFamily="34" charset="-120"/>
              </a:rPr>
              <a:t>   →   </a:t>
            </a:r>
            <a:pPr indent="0" marL="0">
              <a:lnSpc>
                <a:spcPct val="120000"/>
              </a:lnSpc>
              <a:buNone/>
            </a:pPr>
            <a:r>
              <a:rPr lang="en-US" sz="840" dirty="0">
                <a:solidFill>
                  <a:srgbClr val="E6E9EE"/>
                </a:solidFill>
                <a:latin typeface="Consolas" pitchFamily="34" charset="0"/>
                <a:ea typeface="Consolas" pitchFamily="34" charset="-122"/>
                <a:cs typeface="Consolas" pitchFamily="34" charset="-120"/>
              </a:rPr>
              <a:t>updates the home page card, the /plans table, and the contact page summary panel</a:t>
            </a:r>
            <a:endParaRPr lang="en-US" sz="8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566928" y="4668012"/>
            <a:ext cx="8010144" cy="10973"/>
          </a:xfrm>
          <a:prstGeom prst="rect">
            <a:avLst/>
          </a:prstGeom>
          <a:solidFill>
            <a:srgbClr val="E4E1DB"/>
          </a:solidFill>
          <a:ln/>
        </p:spPr>
      </p:sp>
      <p:sp>
        <p:nvSpPr>
          <p:cNvPr id="3" name="Text 1"/>
          <p:cNvSpPr/>
          <p:nvPr/>
        </p:nvSpPr>
        <p:spPr>
          <a:xfrm>
            <a:off x="566928" y="4722876"/>
            <a:ext cx="6408115" cy="274320"/>
          </a:xfrm>
          <a:prstGeom prst="rect">
            <a:avLst/>
          </a:prstGeom>
          <a:noFill/>
          <a:ln/>
        </p:spPr>
        <p:txBody>
          <a:bodyPr wrap="square" rtlCol="0" anchor="ctr"/>
          <a:lstStyle/>
          <a:p>
            <a:pPr indent="0" marL="0">
              <a:buNone/>
            </a:pPr>
            <a:r>
              <a:rPr lang="en-US" sz="800" dirty="0">
                <a:solidFill>
                  <a:srgbClr val="5B6472"/>
                </a:solidFill>
                <a:latin typeface="Segoe UI" pitchFamily="34" charset="0"/>
                <a:ea typeface="Segoe UI" pitchFamily="34" charset="-122"/>
                <a:cs typeface="Segoe UI" pitchFamily="34" charset="-120"/>
              </a:rPr>
              <a:t>Polypus  |  Architecture of the marketing website  |  owned by Axonite</a:t>
            </a:r>
            <a:endParaRPr lang="en-US" sz="800" dirty="0"/>
          </a:p>
        </p:txBody>
      </p:sp>
      <p:sp>
        <p:nvSpPr>
          <p:cNvPr id="4" name="Text 2"/>
          <p:cNvSpPr/>
          <p:nvPr/>
        </p:nvSpPr>
        <p:spPr>
          <a:xfrm>
            <a:off x="8028432" y="4722876"/>
            <a:ext cx="548640" cy="274320"/>
          </a:xfrm>
          <a:prstGeom prst="rect">
            <a:avLst/>
          </a:prstGeom>
          <a:noFill/>
          <a:ln/>
        </p:spPr>
        <p:txBody>
          <a:bodyPr wrap="square" rtlCol="0" anchor="ctr"/>
          <a:lstStyle/>
          <a:p>
            <a:pPr algn="r" indent="0" marL="0">
              <a:buNone/>
            </a:pPr>
            <a:r>
              <a:rPr lang="en-US" sz="800" dirty="0">
                <a:solidFill>
                  <a:srgbClr val="5B6472"/>
                </a:solidFill>
                <a:latin typeface="Consolas" pitchFamily="34" charset="0"/>
                <a:ea typeface="Consolas" pitchFamily="34" charset="-122"/>
                <a:cs typeface="Consolas" pitchFamily="34" charset="-120"/>
              </a:rPr>
              <a:t>9</a:t>
            </a:r>
            <a:endParaRPr lang="en-US" sz="800" dirty="0"/>
          </a:p>
        </p:txBody>
      </p:sp>
      <p:sp>
        <p:nvSpPr>
          <p:cNvPr id="5" name="Shape 3"/>
          <p:cNvSpPr/>
          <p:nvPr/>
        </p:nvSpPr>
        <p:spPr>
          <a:xfrm>
            <a:off x="566928" y="384048"/>
            <a:ext cx="420624" cy="50292"/>
          </a:xfrm>
          <a:prstGeom prst="rect">
            <a:avLst/>
          </a:prstGeom>
          <a:solidFill>
            <a:srgbClr val="0F766E"/>
          </a:solidFill>
          <a:ln/>
        </p:spPr>
      </p:sp>
      <p:sp>
        <p:nvSpPr>
          <p:cNvPr id="6" name="Text 4"/>
          <p:cNvSpPr/>
          <p:nvPr/>
        </p:nvSpPr>
        <p:spPr>
          <a:xfrm>
            <a:off x="566928" y="548640"/>
            <a:ext cx="8010144" cy="201168"/>
          </a:xfrm>
          <a:prstGeom prst="rect">
            <a:avLst/>
          </a:prstGeom>
          <a:noFill/>
          <a:ln/>
        </p:spPr>
        <p:txBody>
          <a:bodyPr wrap="square" rtlCol="0" anchor="ctr"/>
          <a:lstStyle/>
          <a:p>
            <a:pPr indent="0" marL="0">
              <a:buNone/>
            </a:pPr>
            <a:r>
              <a:rPr lang="en-US" sz="900" b="1" spc="140" kern="0" dirty="0">
                <a:solidFill>
                  <a:srgbClr val="0F766E"/>
                </a:solidFill>
                <a:latin typeface="Segoe UI" pitchFamily="34" charset="0"/>
                <a:ea typeface="Segoe UI" pitchFamily="34" charset="-122"/>
                <a:cs typeface="Segoe UI" pitchFamily="34" charset="-120"/>
              </a:rPr>
              <a:t>DESIGN</a:t>
            </a:r>
            <a:endParaRPr lang="en-US" sz="900" dirty="0"/>
          </a:p>
        </p:txBody>
      </p:sp>
      <p:sp>
        <p:nvSpPr>
          <p:cNvPr id="7" name="Text 5"/>
          <p:cNvSpPr/>
          <p:nvPr/>
        </p:nvSpPr>
        <p:spPr>
          <a:xfrm>
            <a:off x="566928" y="786384"/>
            <a:ext cx="8010144" cy="420624"/>
          </a:xfrm>
          <a:prstGeom prst="rect">
            <a:avLst/>
          </a:prstGeom>
          <a:noFill/>
          <a:ln/>
        </p:spPr>
        <p:txBody>
          <a:bodyPr wrap="square" rtlCol="0" anchor="ctr"/>
          <a:lstStyle/>
          <a:p>
            <a:pPr indent="0" marL="0">
              <a:buNone/>
            </a:pPr>
            <a:r>
              <a:rPr lang="en-US" sz="2400" dirty="0">
                <a:solidFill>
                  <a:srgbClr val="12151C"/>
                </a:solidFill>
                <a:latin typeface="Georgia" pitchFamily="34" charset="0"/>
                <a:ea typeface="Georgia" pitchFamily="34" charset="-122"/>
                <a:cs typeface="Georgia" pitchFamily="34" charset="-120"/>
              </a:rPr>
              <a:t>A hand-built system, not a template</a:t>
            </a:r>
            <a:endParaRPr lang="en-US" sz="2400" dirty="0"/>
          </a:p>
        </p:txBody>
      </p:sp>
      <p:sp>
        <p:nvSpPr>
          <p:cNvPr id="8" name="Text 6"/>
          <p:cNvSpPr/>
          <p:nvPr/>
        </p:nvSpPr>
        <p:spPr>
          <a:xfrm>
            <a:off x="566928" y="1243584"/>
            <a:ext cx="8010144" cy="310896"/>
          </a:xfrm>
          <a:prstGeom prst="rect">
            <a:avLst/>
          </a:prstGeom>
          <a:noFill/>
          <a:ln/>
        </p:spPr>
        <p:txBody>
          <a:bodyPr wrap="square" rtlCol="0" anchor="t"/>
          <a:lstStyle/>
          <a:p>
            <a:pPr indent="0" marL="0">
              <a:buNone/>
            </a:pPr>
            <a:r>
              <a:rPr lang="en-US" sz="1050" dirty="0">
                <a:solidFill>
                  <a:srgbClr val="3B4250"/>
                </a:solidFill>
                <a:latin typeface="Segoe UI" pitchFamily="34" charset="0"/>
                <a:ea typeface="Segoe UI" pitchFamily="34" charset="-122"/>
                <a:cs typeface="Segoe UI" pitchFamily="34" charset="-120"/>
              </a:rPr>
              <a:t>The brief asked for a site that looks considered rather than generated.</a:t>
            </a:r>
            <a:endParaRPr lang="en-US" sz="1050" dirty="0"/>
          </a:p>
        </p:txBody>
      </p:sp>
      <p:sp>
        <p:nvSpPr>
          <p:cNvPr id="9" name="Shape 7"/>
          <p:cNvSpPr/>
          <p:nvPr/>
        </p:nvSpPr>
        <p:spPr>
          <a:xfrm>
            <a:off x="566928" y="1737360"/>
            <a:ext cx="713232" cy="566928"/>
          </a:xfrm>
          <a:prstGeom prst="roundRect">
            <a:avLst>
              <a:gd name="adj" fmla="val 8065"/>
            </a:avLst>
          </a:prstGeom>
          <a:solidFill>
            <a:srgbClr val="FAF9F7"/>
          </a:solidFill>
          <a:ln w="12700">
            <a:solidFill>
              <a:srgbClr val="E4E1DB"/>
            </a:solidFill>
            <a:prstDash val="solid"/>
          </a:ln>
        </p:spPr>
      </p:sp>
      <p:sp>
        <p:nvSpPr>
          <p:cNvPr id="10" name="Text 8"/>
          <p:cNvSpPr/>
          <p:nvPr/>
        </p:nvSpPr>
        <p:spPr>
          <a:xfrm>
            <a:off x="512064" y="2340864"/>
            <a:ext cx="822960" cy="182880"/>
          </a:xfrm>
          <a:prstGeom prst="rect">
            <a:avLst/>
          </a:prstGeom>
          <a:noFill/>
          <a:ln/>
        </p:spPr>
        <p:txBody>
          <a:bodyPr wrap="square" rtlCol="0" anchor="ctr"/>
          <a:lstStyle/>
          <a:p>
            <a:pPr algn="ctr" indent="0" marL="0">
              <a:buNone/>
            </a:pPr>
            <a:r>
              <a:rPr lang="en-US" sz="660" dirty="0">
                <a:solidFill>
                  <a:srgbClr val="5B6472"/>
                </a:solidFill>
                <a:latin typeface="Consolas" pitchFamily="34" charset="0"/>
                <a:ea typeface="Consolas" pitchFamily="34" charset="-122"/>
                <a:cs typeface="Consolas" pitchFamily="34" charset="-120"/>
              </a:rPr>
              <a:t>#FAF9F7</a:t>
            </a:r>
            <a:endParaRPr lang="en-US" sz="660" dirty="0"/>
          </a:p>
        </p:txBody>
      </p:sp>
      <p:sp>
        <p:nvSpPr>
          <p:cNvPr id="11" name="Shape 9"/>
          <p:cNvSpPr/>
          <p:nvPr/>
        </p:nvSpPr>
        <p:spPr>
          <a:xfrm>
            <a:off x="1389888" y="1737360"/>
            <a:ext cx="713232" cy="566928"/>
          </a:xfrm>
          <a:prstGeom prst="roundRect">
            <a:avLst>
              <a:gd name="adj" fmla="val 8065"/>
            </a:avLst>
          </a:prstGeom>
          <a:solidFill>
            <a:srgbClr val="12151C"/>
          </a:solidFill>
          <a:ln w="12700">
            <a:solidFill>
              <a:srgbClr val="E4E1DB"/>
            </a:solidFill>
            <a:prstDash val="solid"/>
          </a:ln>
        </p:spPr>
      </p:sp>
      <p:sp>
        <p:nvSpPr>
          <p:cNvPr id="12" name="Text 10"/>
          <p:cNvSpPr/>
          <p:nvPr/>
        </p:nvSpPr>
        <p:spPr>
          <a:xfrm>
            <a:off x="1335024" y="2340864"/>
            <a:ext cx="822960" cy="182880"/>
          </a:xfrm>
          <a:prstGeom prst="rect">
            <a:avLst/>
          </a:prstGeom>
          <a:noFill/>
          <a:ln/>
        </p:spPr>
        <p:txBody>
          <a:bodyPr wrap="square" rtlCol="0" anchor="ctr"/>
          <a:lstStyle/>
          <a:p>
            <a:pPr algn="ctr" indent="0" marL="0">
              <a:buNone/>
            </a:pPr>
            <a:r>
              <a:rPr lang="en-US" sz="660" dirty="0">
                <a:solidFill>
                  <a:srgbClr val="5B6472"/>
                </a:solidFill>
                <a:latin typeface="Consolas" pitchFamily="34" charset="0"/>
                <a:ea typeface="Consolas" pitchFamily="34" charset="-122"/>
                <a:cs typeface="Consolas" pitchFamily="34" charset="-120"/>
              </a:rPr>
              <a:t>#12151C</a:t>
            </a:r>
            <a:endParaRPr lang="en-US" sz="660" dirty="0"/>
          </a:p>
        </p:txBody>
      </p:sp>
      <p:sp>
        <p:nvSpPr>
          <p:cNvPr id="13" name="Shape 11"/>
          <p:cNvSpPr/>
          <p:nvPr/>
        </p:nvSpPr>
        <p:spPr>
          <a:xfrm>
            <a:off x="2212848" y="1737360"/>
            <a:ext cx="713232" cy="566928"/>
          </a:xfrm>
          <a:prstGeom prst="roundRect">
            <a:avLst>
              <a:gd name="adj" fmla="val 8065"/>
            </a:avLst>
          </a:prstGeom>
          <a:solidFill>
            <a:srgbClr val="0F766E"/>
          </a:solidFill>
          <a:ln w="12700">
            <a:solidFill>
              <a:srgbClr val="E4E1DB"/>
            </a:solidFill>
            <a:prstDash val="solid"/>
          </a:ln>
        </p:spPr>
      </p:sp>
      <p:sp>
        <p:nvSpPr>
          <p:cNvPr id="14" name="Text 12"/>
          <p:cNvSpPr/>
          <p:nvPr/>
        </p:nvSpPr>
        <p:spPr>
          <a:xfrm>
            <a:off x="2157984" y="2340864"/>
            <a:ext cx="822960" cy="182880"/>
          </a:xfrm>
          <a:prstGeom prst="rect">
            <a:avLst/>
          </a:prstGeom>
          <a:noFill/>
          <a:ln/>
        </p:spPr>
        <p:txBody>
          <a:bodyPr wrap="square" rtlCol="0" anchor="ctr"/>
          <a:lstStyle/>
          <a:p>
            <a:pPr algn="ctr" indent="0" marL="0">
              <a:buNone/>
            </a:pPr>
            <a:r>
              <a:rPr lang="en-US" sz="660" dirty="0">
                <a:solidFill>
                  <a:srgbClr val="5B6472"/>
                </a:solidFill>
                <a:latin typeface="Consolas" pitchFamily="34" charset="0"/>
                <a:ea typeface="Consolas" pitchFamily="34" charset="-122"/>
                <a:cs typeface="Consolas" pitchFamily="34" charset="-120"/>
              </a:rPr>
              <a:t>#0F766E</a:t>
            </a:r>
            <a:endParaRPr lang="en-US" sz="660" dirty="0"/>
          </a:p>
        </p:txBody>
      </p:sp>
      <p:sp>
        <p:nvSpPr>
          <p:cNvPr id="15" name="Shape 13"/>
          <p:cNvSpPr/>
          <p:nvPr/>
        </p:nvSpPr>
        <p:spPr>
          <a:xfrm>
            <a:off x="3035808" y="1737360"/>
            <a:ext cx="713232" cy="566928"/>
          </a:xfrm>
          <a:prstGeom prst="roundRect">
            <a:avLst>
              <a:gd name="adj" fmla="val 8065"/>
            </a:avLst>
          </a:prstGeom>
          <a:solidFill>
            <a:srgbClr val="14B8A6"/>
          </a:solidFill>
          <a:ln w="12700">
            <a:solidFill>
              <a:srgbClr val="E4E1DB"/>
            </a:solidFill>
            <a:prstDash val="solid"/>
          </a:ln>
        </p:spPr>
      </p:sp>
      <p:sp>
        <p:nvSpPr>
          <p:cNvPr id="16" name="Text 14"/>
          <p:cNvSpPr/>
          <p:nvPr/>
        </p:nvSpPr>
        <p:spPr>
          <a:xfrm>
            <a:off x="2980944" y="2340864"/>
            <a:ext cx="822960" cy="182880"/>
          </a:xfrm>
          <a:prstGeom prst="rect">
            <a:avLst/>
          </a:prstGeom>
          <a:noFill/>
          <a:ln/>
        </p:spPr>
        <p:txBody>
          <a:bodyPr wrap="square" rtlCol="0" anchor="ctr"/>
          <a:lstStyle/>
          <a:p>
            <a:pPr algn="ctr" indent="0" marL="0">
              <a:buNone/>
            </a:pPr>
            <a:r>
              <a:rPr lang="en-US" sz="660" dirty="0">
                <a:solidFill>
                  <a:srgbClr val="5B6472"/>
                </a:solidFill>
                <a:latin typeface="Consolas" pitchFamily="34" charset="0"/>
                <a:ea typeface="Consolas" pitchFamily="34" charset="-122"/>
                <a:cs typeface="Consolas" pitchFamily="34" charset="-120"/>
              </a:rPr>
              <a:t>#14B8A6</a:t>
            </a:r>
            <a:endParaRPr lang="en-US" sz="660" dirty="0"/>
          </a:p>
        </p:txBody>
      </p:sp>
      <p:sp>
        <p:nvSpPr>
          <p:cNvPr id="17" name="Shape 15"/>
          <p:cNvSpPr/>
          <p:nvPr/>
        </p:nvSpPr>
        <p:spPr>
          <a:xfrm>
            <a:off x="3858768" y="1737360"/>
            <a:ext cx="713232" cy="566928"/>
          </a:xfrm>
          <a:prstGeom prst="roundRect">
            <a:avLst>
              <a:gd name="adj" fmla="val 8065"/>
            </a:avLst>
          </a:prstGeom>
          <a:solidFill>
            <a:srgbClr val="B4894A"/>
          </a:solidFill>
          <a:ln w="12700">
            <a:solidFill>
              <a:srgbClr val="E4E1DB"/>
            </a:solidFill>
            <a:prstDash val="solid"/>
          </a:ln>
        </p:spPr>
      </p:sp>
      <p:sp>
        <p:nvSpPr>
          <p:cNvPr id="18" name="Text 16"/>
          <p:cNvSpPr/>
          <p:nvPr/>
        </p:nvSpPr>
        <p:spPr>
          <a:xfrm>
            <a:off x="3803904" y="2340864"/>
            <a:ext cx="822960" cy="182880"/>
          </a:xfrm>
          <a:prstGeom prst="rect">
            <a:avLst/>
          </a:prstGeom>
          <a:noFill/>
          <a:ln/>
        </p:spPr>
        <p:txBody>
          <a:bodyPr wrap="square" rtlCol="0" anchor="ctr"/>
          <a:lstStyle/>
          <a:p>
            <a:pPr algn="ctr" indent="0" marL="0">
              <a:buNone/>
            </a:pPr>
            <a:r>
              <a:rPr lang="en-US" sz="660" dirty="0">
                <a:solidFill>
                  <a:srgbClr val="5B6472"/>
                </a:solidFill>
                <a:latin typeface="Consolas" pitchFamily="34" charset="0"/>
                <a:ea typeface="Consolas" pitchFamily="34" charset="-122"/>
                <a:cs typeface="Consolas" pitchFamily="34" charset="-120"/>
              </a:rPr>
              <a:t>#B4894A</a:t>
            </a:r>
            <a:endParaRPr lang="en-US" sz="660" dirty="0"/>
          </a:p>
        </p:txBody>
      </p:sp>
      <p:sp>
        <p:nvSpPr>
          <p:cNvPr id="19" name="Shape 17"/>
          <p:cNvSpPr/>
          <p:nvPr/>
        </p:nvSpPr>
        <p:spPr>
          <a:xfrm>
            <a:off x="4681728" y="1737360"/>
            <a:ext cx="713232" cy="566928"/>
          </a:xfrm>
          <a:prstGeom prst="roundRect">
            <a:avLst>
              <a:gd name="adj" fmla="val 8065"/>
            </a:avLst>
          </a:prstGeom>
          <a:solidFill>
            <a:srgbClr val="C2593F"/>
          </a:solidFill>
          <a:ln w="12700">
            <a:solidFill>
              <a:srgbClr val="E4E1DB"/>
            </a:solidFill>
            <a:prstDash val="solid"/>
          </a:ln>
        </p:spPr>
      </p:sp>
      <p:sp>
        <p:nvSpPr>
          <p:cNvPr id="20" name="Text 18"/>
          <p:cNvSpPr/>
          <p:nvPr/>
        </p:nvSpPr>
        <p:spPr>
          <a:xfrm>
            <a:off x="4626864" y="2340864"/>
            <a:ext cx="822960" cy="182880"/>
          </a:xfrm>
          <a:prstGeom prst="rect">
            <a:avLst/>
          </a:prstGeom>
          <a:noFill/>
          <a:ln/>
        </p:spPr>
        <p:txBody>
          <a:bodyPr wrap="square" rtlCol="0" anchor="ctr"/>
          <a:lstStyle/>
          <a:p>
            <a:pPr algn="ctr" indent="0" marL="0">
              <a:buNone/>
            </a:pPr>
            <a:r>
              <a:rPr lang="en-US" sz="660" dirty="0">
                <a:solidFill>
                  <a:srgbClr val="5B6472"/>
                </a:solidFill>
                <a:latin typeface="Consolas" pitchFamily="34" charset="0"/>
                <a:ea typeface="Consolas" pitchFamily="34" charset="-122"/>
                <a:cs typeface="Consolas" pitchFamily="34" charset="-120"/>
              </a:rPr>
              <a:t>#C2593F</a:t>
            </a:r>
            <a:endParaRPr lang="en-US" sz="660" dirty="0"/>
          </a:p>
        </p:txBody>
      </p:sp>
      <p:sp>
        <p:nvSpPr>
          <p:cNvPr id="21" name="Shape 19"/>
          <p:cNvSpPr/>
          <p:nvPr/>
        </p:nvSpPr>
        <p:spPr>
          <a:xfrm>
            <a:off x="5687568" y="1737360"/>
            <a:ext cx="2889504" cy="914400"/>
          </a:xfrm>
          <a:prstGeom prst="roundRect">
            <a:avLst>
              <a:gd name="adj" fmla="val 5000"/>
            </a:avLst>
          </a:prstGeom>
          <a:solidFill>
            <a:srgbClr val="FFFFFF"/>
          </a:solidFill>
          <a:ln w="12700">
            <a:solidFill>
              <a:srgbClr val="E4E1DB"/>
            </a:solidFill>
            <a:prstDash val="solid"/>
          </a:ln>
        </p:spPr>
      </p:sp>
      <p:sp>
        <p:nvSpPr>
          <p:cNvPr id="22" name="Text 20"/>
          <p:cNvSpPr/>
          <p:nvPr/>
        </p:nvSpPr>
        <p:spPr>
          <a:xfrm>
            <a:off x="5852160" y="1810512"/>
            <a:ext cx="2542032" cy="365760"/>
          </a:xfrm>
          <a:prstGeom prst="rect">
            <a:avLst/>
          </a:prstGeom>
          <a:noFill/>
          <a:ln/>
        </p:spPr>
        <p:txBody>
          <a:bodyPr wrap="square" rtlCol="0" anchor="ctr"/>
          <a:lstStyle/>
          <a:p>
            <a:pPr indent="0" marL="0">
              <a:buNone/>
            </a:pPr>
            <a:r>
              <a:rPr lang="en-US" sz="1100" dirty="0">
                <a:solidFill>
                  <a:srgbClr val="12151C"/>
                </a:solidFill>
                <a:latin typeface="Georgia" pitchFamily="34" charset="0"/>
                <a:ea typeface="Georgia" pitchFamily="34" charset="-122"/>
                <a:cs typeface="Georgia" pitchFamily="34" charset="-120"/>
              </a:rPr>
              <a:t>Documents in. SAP postings out.</a:t>
            </a:r>
            <a:endParaRPr lang="en-US" sz="1100" dirty="0"/>
          </a:p>
        </p:txBody>
      </p:sp>
      <p:sp>
        <p:nvSpPr>
          <p:cNvPr id="23" name="Text 21"/>
          <p:cNvSpPr/>
          <p:nvPr/>
        </p:nvSpPr>
        <p:spPr>
          <a:xfrm>
            <a:off x="5852160" y="2194560"/>
            <a:ext cx="2542032" cy="182880"/>
          </a:xfrm>
          <a:prstGeom prst="rect">
            <a:avLst/>
          </a:prstGeom>
          <a:noFill/>
          <a:ln/>
        </p:spPr>
        <p:txBody>
          <a:bodyPr wrap="square" rtlCol="0" anchor="ctr"/>
          <a:lstStyle/>
          <a:p>
            <a:pPr indent="0" marL="0">
              <a:buNone/>
            </a:pPr>
            <a:r>
              <a:rPr lang="en-US" sz="740" dirty="0">
                <a:solidFill>
                  <a:srgbClr val="5B6472"/>
                </a:solidFill>
                <a:latin typeface="Segoe UI" pitchFamily="34" charset="0"/>
                <a:ea typeface="Segoe UI" pitchFamily="34" charset="-122"/>
                <a:cs typeface="Segoe UI" pitchFamily="34" charset="-120"/>
              </a:rPr>
              <a:t>Serif headings  ·  sans body  ·  mono for numbers</a:t>
            </a:r>
            <a:endParaRPr lang="en-US" sz="740" dirty="0"/>
          </a:p>
        </p:txBody>
      </p:sp>
      <p:sp>
        <p:nvSpPr>
          <p:cNvPr id="24" name="Text 22"/>
          <p:cNvSpPr/>
          <p:nvPr/>
        </p:nvSpPr>
        <p:spPr>
          <a:xfrm>
            <a:off x="5852160" y="2377440"/>
            <a:ext cx="2542032" cy="182880"/>
          </a:xfrm>
          <a:prstGeom prst="rect">
            <a:avLst/>
          </a:prstGeom>
          <a:noFill/>
          <a:ln/>
        </p:spPr>
        <p:txBody>
          <a:bodyPr wrap="square" rtlCol="0" anchor="ctr"/>
          <a:lstStyle/>
          <a:p>
            <a:pPr indent="0" marL="0">
              <a:buNone/>
            </a:pPr>
            <a:r>
              <a:rPr lang="en-US" sz="740" dirty="0">
                <a:solidFill>
                  <a:srgbClr val="0F766E"/>
                </a:solidFill>
                <a:latin typeface="Segoe UI" pitchFamily="34" charset="0"/>
                <a:ea typeface="Segoe UI" pitchFamily="34" charset="-122"/>
                <a:cs typeface="Segoe UI" pitchFamily="34" charset="-120"/>
              </a:rPr>
              <a:t>System stacks - no web font, no third-party request</a:t>
            </a:r>
            <a:endParaRPr lang="en-US" sz="740" dirty="0"/>
          </a:p>
        </p:txBody>
      </p:sp>
      <p:sp>
        <p:nvSpPr>
          <p:cNvPr id="25" name="Shape 23"/>
          <p:cNvSpPr/>
          <p:nvPr/>
        </p:nvSpPr>
        <p:spPr>
          <a:xfrm>
            <a:off x="566928" y="2761488"/>
            <a:ext cx="3840480" cy="676656"/>
          </a:xfrm>
          <a:prstGeom prst="roundRect">
            <a:avLst>
              <a:gd name="adj" fmla="val 5405"/>
            </a:avLst>
          </a:prstGeom>
          <a:solidFill>
            <a:srgbClr val="FFFFFF"/>
          </a:solidFill>
          <a:ln w="12700">
            <a:solidFill>
              <a:srgbClr val="E4E1DB"/>
            </a:solidFill>
            <a:prstDash val="solid"/>
          </a:ln>
        </p:spPr>
      </p:sp>
      <p:sp>
        <p:nvSpPr>
          <p:cNvPr id="26" name="Text 24"/>
          <p:cNvSpPr/>
          <p:nvPr/>
        </p:nvSpPr>
        <p:spPr>
          <a:xfrm>
            <a:off x="749808" y="2834640"/>
            <a:ext cx="3511296" cy="219456"/>
          </a:xfrm>
          <a:prstGeom prst="rect">
            <a:avLst/>
          </a:prstGeom>
          <a:noFill/>
          <a:ln/>
        </p:spPr>
        <p:txBody>
          <a:bodyPr wrap="square" rtlCol="0" anchor="ctr"/>
          <a:lstStyle/>
          <a:p>
            <a:pPr indent="0" marL="0">
              <a:buNone/>
            </a:pPr>
            <a:r>
              <a:rPr lang="en-US" sz="1000" b="1" dirty="0">
                <a:solidFill>
                  <a:srgbClr val="12151C"/>
                </a:solidFill>
                <a:latin typeface="Segoe UI" pitchFamily="34" charset="0"/>
                <a:ea typeface="Segoe UI" pitchFamily="34" charset="-122"/>
                <a:cs typeface="Segoe UI" pitchFamily="34" charset="-120"/>
              </a:rPr>
              <a:t>53 design tokens</a:t>
            </a:r>
            <a:endParaRPr lang="en-US" sz="1000" dirty="0"/>
          </a:p>
        </p:txBody>
      </p:sp>
      <p:sp>
        <p:nvSpPr>
          <p:cNvPr id="27" name="Text 25"/>
          <p:cNvSpPr/>
          <p:nvPr/>
        </p:nvSpPr>
        <p:spPr>
          <a:xfrm>
            <a:off x="749808" y="3044952"/>
            <a:ext cx="3511296" cy="347472"/>
          </a:xfrm>
          <a:prstGeom prst="rect">
            <a:avLst/>
          </a:prstGeom>
          <a:noFill/>
          <a:ln/>
        </p:spPr>
        <p:txBody>
          <a:bodyPr wrap="square" rtlCol="0" anchor="ctr"/>
          <a:lstStyle/>
          <a:p>
            <a:pPr indent="0" marL="0">
              <a:lnSpc>
                <a:spcPct val="110000"/>
              </a:lnSpc>
              <a:buNone/>
            </a:pPr>
            <a:r>
              <a:rPr lang="en-US" sz="780" dirty="0">
                <a:solidFill>
                  <a:srgbClr val="5B6472"/>
                </a:solidFill>
                <a:latin typeface="Segoe UI" pitchFamily="34" charset="0"/>
                <a:ea typeface="Segoe UI" pitchFamily="34" charset="-122"/>
                <a:cs typeface="Segoe UI" pitchFamily="34" charset="-120"/>
              </a:rPr>
              <a:t>Colour, type, spacing and radii all named once in app.css :root. Change a token, update every use.</a:t>
            </a:r>
            <a:endParaRPr lang="en-US" sz="780" dirty="0"/>
          </a:p>
        </p:txBody>
      </p:sp>
      <p:sp>
        <p:nvSpPr>
          <p:cNvPr id="28" name="Shape 26"/>
          <p:cNvSpPr/>
          <p:nvPr/>
        </p:nvSpPr>
        <p:spPr>
          <a:xfrm>
            <a:off x="4572000" y="2761488"/>
            <a:ext cx="3840480" cy="676656"/>
          </a:xfrm>
          <a:prstGeom prst="roundRect">
            <a:avLst>
              <a:gd name="adj" fmla="val 5405"/>
            </a:avLst>
          </a:prstGeom>
          <a:solidFill>
            <a:srgbClr val="FFFFFF"/>
          </a:solidFill>
          <a:ln w="12700">
            <a:solidFill>
              <a:srgbClr val="E4E1DB"/>
            </a:solidFill>
            <a:prstDash val="solid"/>
          </a:ln>
        </p:spPr>
      </p:sp>
      <p:sp>
        <p:nvSpPr>
          <p:cNvPr id="29" name="Text 27"/>
          <p:cNvSpPr/>
          <p:nvPr/>
        </p:nvSpPr>
        <p:spPr>
          <a:xfrm>
            <a:off x="4754880" y="2834640"/>
            <a:ext cx="3511296" cy="219456"/>
          </a:xfrm>
          <a:prstGeom prst="rect">
            <a:avLst/>
          </a:prstGeom>
          <a:noFill/>
          <a:ln/>
        </p:spPr>
        <p:txBody>
          <a:bodyPr wrap="square" rtlCol="0" anchor="ctr"/>
          <a:lstStyle/>
          <a:p>
            <a:pPr indent="0" marL="0">
              <a:buNone/>
            </a:pPr>
            <a:r>
              <a:rPr lang="en-US" sz="1000" b="1" dirty="0">
                <a:solidFill>
                  <a:srgbClr val="12151C"/>
                </a:solidFill>
                <a:latin typeface="Segoe UI" pitchFamily="34" charset="0"/>
                <a:ea typeface="Segoe UI" pitchFamily="34" charset="-122"/>
                <a:cs typeface="Segoe UI" pitchFamily="34" charset="-120"/>
              </a:rPr>
              <a:t>Two stylesheets</a:t>
            </a:r>
            <a:endParaRPr lang="en-US" sz="1000" dirty="0"/>
          </a:p>
        </p:txBody>
      </p:sp>
      <p:sp>
        <p:nvSpPr>
          <p:cNvPr id="30" name="Text 28"/>
          <p:cNvSpPr/>
          <p:nvPr/>
        </p:nvSpPr>
        <p:spPr>
          <a:xfrm>
            <a:off x="4754880" y="3044952"/>
            <a:ext cx="3511296" cy="347472"/>
          </a:xfrm>
          <a:prstGeom prst="rect">
            <a:avLst/>
          </a:prstGeom>
          <a:noFill/>
          <a:ln/>
        </p:spPr>
        <p:txBody>
          <a:bodyPr wrap="square" rtlCol="0" anchor="ctr"/>
          <a:lstStyle/>
          <a:p>
            <a:pPr indent="0" marL="0">
              <a:lnSpc>
                <a:spcPct val="110000"/>
              </a:lnSpc>
              <a:buNone/>
            </a:pPr>
            <a:r>
              <a:rPr lang="en-US" sz="780" dirty="0">
                <a:solidFill>
                  <a:srgbClr val="5B6472"/>
                </a:solidFill>
                <a:latin typeface="Segoe UI" pitchFamily="34" charset="0"/>
                <a:ea typeface="Segoe UI" pitchFamily="34" charset="-122"/>
                <a:cs typeface="Segoe UI" pitchFamily="34" charset="-120"/>
              </a:rPr>
              <a:t>app.css holds the system; home.css adds the marketing sections and loads second so it can override.</a:t>
            </a:r>
            <a:endParaRPr lang="en-US" sz="780" dirty="0"/>
          </a:p>
        </p:txBody>
      </p:sp>
      <p:sp>
        <p:nvSpPr>
          <p:cNvPr id="31" name="Shape 29"/>
          <p:cNvSpPr/>
          <p:nvPr/>
        </p:nvSpPr>
        <p:spPr>
          <a:xfrm>
            <a:off x="566928" y="3547872"/>
            <a:ext cx="3840480" cy="676656"/>
          </a:xfrm>
          <a:prstGeom prst="roundRect">
            <a:avLst>
              <a:gd name="adj" fmla="val 5405"/>
            </a:avLst>
          </a:prstGeom>
          <a:solidFill>
            <a:srgbClr val="FFFFFF"/>
          </a:solidFill>
          <a:ln w="12700">
            <a:solidFill>
              <a:srgbClr val="E4E1DB"/>
            </a:solidFill>
            <a:prstDash val="solid"/>
          </a:ln>
        </p:spPr>
      </p:sp>
      <p:sp>
        <p:nvSpPr>
          <p:cNvPr id="32" name="Text 30"/>
          <p:cNvSpPr/>
          <p:nvPr/>
        </p:nvSpPr>
        <p:spPr>
          <a:xfrm>
            <a:off x="749808" y="3621024"/>
            <a:ext cx="3511296" cy="219456"/>
          </a:xfrm>
          <a:prstGeom prst="rect">
            <a:avLst/>
          </a:prstGeom>
          <a:noFill/>
          <a:ln/>
        </p:spPr>
        <p:txBody>
          <a:bodyPr wrap="square" rtlCol="0" anchor="ctr"/>
          <a:lstStyle/>
          <a:p>
            <a:pPr indent="0" marL="0">
              <a:buNone/>
            </a:pPr>
            <a:r>
              <a:rPr lang="en-US" sz="1000" b="1" dirty="0">
                <a:solidFill>
                  <a:srgbClr val="12151C"/>
                </a:solidFill>
                <a:latin typeface="Segoe UI" pitchFamily="34" charset="0"/>
                <a:ea typeface="Segoe UI" pitchFamily="34" charset="-122"/>
                <a:cs typeface="Segoe UI" pitchFamily="34" charset="-120"/>
              </a:rPr>
              <a:t>~34 inline SVG icons</a:t>
            </a:r>
            <a:endParaRPr lang="en-US" sz="1000" dirty="0"/>
          </a:p>
        </p:txBody>
      </p:sp>
      <p:sp>
        <p:nvSpPr>
          <p:cNvPr id="33" name="Text 31"/>
          <p:cNvSpPr/>
          <p:nvPr/>
        </p:nvSpPr>
        <p:spPr>
          <a:xfrm>
            <a:off x="749808" y="3831336"/>
            <a:ext cx="3511296" cy="347472"/>
          </a:xfrm>
          <a:prstGeom prst="rect">
            <a:avLst/>
          </a:prstGeom>
          <a:noFill/>
          <a:ln/>
        </p:spPr>
        <p:txBody>
          <a:bodyPr wrap="square" rtlCol="0" anchor="ctr"/>
          <a:lstStyle/>
          <a:p>
            <a:pPr indent="0" marL="0">
              <a:lnSpc>
                <a:spcPct val="110000"/>
              </a:lnSpc>
              <a:buNone/>
            </a:pPr>
            <a:r>
              <a:rPr lang="en-US" sz="780" dirty="0">
                <a:solidFill>
                  <a:srgbClr val="5B6472"/>
                </a:solidFill>
                <a:latin typeface="Segoe UI" pitchFamily="34" charset="0"/>
                <a:ea typeface="Segoe UI" pitchFamily="34" charset="-122"/>
                <a:cs typeface="Segoe UI" pitchFamily="34" charset="-120"/>
              </a:rPr>
              <a:t>One component, one switch. They inherit currentColor and carry aria-hidden.</a:t>
            </a:r>
            <a:endParaRPr lang="en-US" sz="780" dirty="0"/>
          </a:p>
        </p:txBody>
      </p:sp>
      <p:sp>
        <p:nvSpPr>
          <p:cNvPr id="34" name="Shape 32"/>
          <p:cNvSpPr/>
          <p:nvPr/>
        </p:nvSpPr>
        <p:spPr>
          <a:xfrm>
            <a:off x="4572000" y="3547872"/>
            <a:ext cx="3840480" cy="676656"/>
          </a:xfrm>
          <a:prstGeom prst="roundRect">
            <a:avLst>
              <a:gd name="adj" fmla="val 5405"/>
            </a:avLst>
          </a:prstGeom>
          <a:solidFill>
            <a:srgbClr val="FFFFFF"/>
          </a:solidFill>
          <a:ln w="12700">
            <a:solidFill>
              <a:srgbClr val="E4E1DB"/>
            </a:solidFill>
            <a:prstDash val="solid"/>
          </a:ln>
        </p:spPr>
      </p:sp>
      <p:sp>
        <p:nvSpPr>
          <p:cNvPr id="35" name="Text 33"/>
          <p:cNvSpPr/>
          <p:nvPr/>
        </p:nvSpPr>
        <p:spPr>
          <a:xfrm>
            <a:off x="4754880" y="3621024"/>
            <a:ext cx="3511296" cy="219456"/>
          </a:xfrm>
          <a:prstGeom prst="rect">
            <a:avLst/>
          </a:prstGeom>
          <a:noFill/>
          <a:ln/>
        </p:spPr>
        <p:txBody>
          <a:bodyPr wrap="square" rtlCol="0" anchor="ctr"/>
          <a:lstStyle/>
          <a:p>
            <a:pPr indent="0" marL="0">
              <a:buNone/>
            </a:pPr>
            <a:r>
              <a:rPr lang="en-US" sz="1000" b="1" dirty="0">
                <a:solidFill>
                  <a:srgbClr val="12151C"/>
                </a:solidFill>
                <a:latin typeface="Segoe UI" pitchFamily="34" charset="0"/>
                <a:ea typeface="Segoe UI" pitchFamily="34" charset="-122"/>
                <a:cs typeface="Segoe UI" pitchFamily="34" charset="-120"/>
              </a:rPr>
              <a:t>Responsive and accessible</a:t>
            </a:r>
            <a:endParaRPr lang="en-US" sz="1000" dirty="0"/>
          </a:p>
        </p:txBody>
      </p:sp>
      <p:sp>
        <p:nvSpPr>
          <p:cNvPr id="36" name="Text 34"/>
          <p:cNvSpPr/>
          <p:nvPr/>
        </p:nvSpPr>
        <p:spPr>
          <a:xfrm>
            <a:off x="4754880" y="3831336"/>
            <a:ext cx="3511296" cy="347472"/>
          </a:xfrm>
          <a:prstGeom prst="rect">
            <a:avLst/>
          </a:prstGeom>
          <a:noFill/>
          <a:ln/>
        </p:spPr>
        <p:txBody>
          <a:bodyPr wrap="square" rtlCol="0" anchor="ctr"/>
          <a:lstStyle/>
          <a:p>
            <a:pPr indent="0" marL="0">
              <a:lnSpc>
                <a:spcPct val="110000"/>
              </a:lnSpc>
              <a:buNone/>
            </a:pPr>
            <a:r>
              <a:rPr lang="en-US" sz="780" dirty="0">
                <a:solidFill>
                  <a:srgbClr val="5B6472"/>
                </a:solidFill>
                <a:latin typeface="Segoe UI" pitchFamily="34" charset="0"/>
                <a:ea typeface="Segoe UI" pitchFamily="34" charset="-122"/>
                <a:cs typeface="Segoe UI" pitchFamily="34" charset="-120"/>
              </a:rPr>
              <a:t>No horizontal overflow at 390 px. Landmarks, skip link, focus rings, reduced-motion support.</a:t>
            </a:r>
            <a:endParaRPr lang="en-US" sz="780" dirty="0"/>
          </a:p>
        </p:txBody>
      </p:sp>
      <p:sp>
        <p:nvSpPr>
          <p:cNvPr id="37" name="Text 35"/>
          <p:cNvSpPr/>
          <p:nvPr/>
        </p:nvSpPr>
        <p:spPr>
          <a:xfrm>
            <a:off x="566928" y="4407408"/>
            <a:ext cx="8010144" cy="274320"/>
          </a:xfrm>
          <a:prstGeom prst="rect">
            <a:avLst/>
          </a:prstGeom>
          <a:noFill/>
          <a:ln/>
        </p:spPr>
        <p:txBody>
          <a:bodyPr wrap="square" rtlCol="0" anchor="ctr"/>
          <a:lstStyle/>
          <a:p>
            <a:pPr indent="0" marL="0">
              <a:buNone/>
            </a:pPr>
            <a:r>
              <a:rPr lang="en-US" sz="820" i="1" dirty="0">
                <a:solidFill>
                  <a:srgbClr val="5B6472"/>
                </a:solidFill>
                <a:latin typeface="Segoe UI" pitchFamily="34" charset="0"/>
                <a:ea typeface="Segoe UI" pitchFamily="34" charset="-122"/>
                <a:cs typeface="Segoe UI" pitchFamily="34" charset="-120"/>
              </a:rPr>
              <a:t>Verified: all 226 CSS classes used in Razor resolve, and all 46 var(--token) references are defined.</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566928" y="4668012"/>
            <a:ext cx="8010144" cy="10973"/>
          </a:xfrm>
          <a:prstGeom prst="rect">
            <a:avLst/>
          </a:prstGeom>
          <a:solidFill>
            <a:srgbClr val="E4E1DB"/>
          </a:solidFill>
          <a:ln/>
        </p:spPr>
      </p:sp>
      <p:sp>
        <p:nvSpPr>
          <p:cNvPr id="3" name="Text 1"/>
          <p:cNvSpPr/>
          <p:nvPr/>
        </p:nvSpPr>
        <p:spPr>
          <a:xfrm>
            <a:off x="566928" y="4722876"/>
            <a:ext cx="6408115" cy="274320"/>
          </a:xfrm>
          <a:prstGeom prst="rect">
            <a:avLst/>
          </a:prstGeom>
          <a:noFill/>
          <a:ln/>
        </p:spPr>
        <p:txBody>
          <a:bodyPr wrap="square" rtlCol="0" anchor="ctr"/>
          <a:lstStyle/>
          <a:p>
            <a:pPr indent="0" marL="0">
              <a:buNone/>
            </a:pPr>
            <a:r>
              <a:rPr lang="en-US" sz="800" dirty="0">
                <a:solidFill>
                  <a:srgbClr val="5B6472"/>
                </a:solidFill>
                <a:latin typeface="Segoe UI" pitchFamily="34" charset="0"/>
                <a:ea typeface="Segoe UI" pitchFamily="34" charset="-122"/>
                <a:cs typeface="Segoe UI" pitchFamily="34" charset="-120"/>
              </a:rPr>
              <a:t>Polypus  |  Architecture of the marketing website  |  owned by Axonite</a:t>
            </a:r>
            <a:endParaRPr lang="en-US" sz="800" dirty="0"/>
          </a:p>
        </p:txBody>
      </p:sp>
      <p:sp>
        <p:nvSpPr>
          <p:cNvPr id="4" name="Text 2"/>
          <p:cNvSpPr/>
          <p:nvPr/>
        </p:nvSpPr>
        <p:spPr>
          <a:xfrm>
            <a:off x="8028432" y="4722876"/>
            <a:ext cx="548640" cy="274320"/>
          </a:xfrm>
          <a:prstGeom prst="rect">
            <a:avLst/>
          </a:prstGeom>
          <a:noFill/>
          <a:ln/>
        </p:spPr>
        <p:txBody>
          <a:bodyPr wrap="square" rtlCol="0" anchor="ctr"/>
          <a:lstStyle/>
          <a:p>
            <a:pPr algn="r" indent="0" marL="0">
              <a:buNone/>
            </a:pPr>
            <a:r>
              <a:rPr lang="en-US" sz="800" dirty="0">
                <a:solidFill>
                  <a:srgbClr val="5B6472"/>
                </a:solidFill>
                <a:latin typeface="Consolas" pitchFamily="34" charset="0"/>
                <a:ea typeface="Consolas" pitchFamily="34" charset="-122"/>
                <a:cs typeface="Consolas" pitchFamily="34" charset="-120"/>
              </a:rPr>
              <a:t>10</a:t>
            </a:r>
            <a:endParaRPr lang="en-US" sz="800" dirty="0"/>
          </a:p>
        </p:txBody>
      </p:sp>
      <p:sp>
        <p:nvSpPr>
          <p:cNvPr id="5" name="Shape 3"/>
          <p:cNvSpPr/>
          <p:nvPr/>
        </p:nvSpPr>
        <p:spPr>
          <a:xfrm>
            <a:off x="566928" y="384048"/>
            <a:ext cx="420624" cy="50292"/>
          </a:xfrm>
          <a:prstGeom prst="rect">
            <a:avLst/>
          </a:prstGeom>
          <a:solidFill>
            <a:srgbClr val="0F766E"/>
          </a:solidFill>
          <a:ln/>
        </p:spPr>
      </p:sp>
      <p:sp>
        <p:nvSpPr>
          <p:cNvPr id="6" name="Text 4"/>
          <p:cNvSpPr/>
          <p:nvPr/>
        </p:nvSpPr>
        <p:spPr>
          <a:xfrm>
            <a:off x="566928" y="548640"/>
            <a:ext cx="8010144" cy="201168"/>
          </a:xfrm>
          <a:prstGeom prst="rect">
            <a:avLst/>
          </a:prstGeom>
          <a:noFill/>
          <a:ln/>
        </p:spPr>
        <p:txBody>
          <a:bodyPr wrap="square" rtlCol="0" anchor="ctr"/>
          <a:lstStyle/>
          <a:p>
            <a:pPr indent="0" marL="0">
              <a:buNone/>
            </a:pPr>
            <a:r>
              <a:rPr lang="en-US" sz="900" b="1" spc="140" kern="0" dirty="0">
                <a:solidFill>
                  <a:srgbClr val="0F766E"/>
                </a:solidFill>
                <a:latin typeface="Segoe UI" pitchFamily="34" charset="0"/>
                <a:ea typeface="Segoe UI" pitchFamily="34" charset="-122"/>
                <a:cs typeface="Segoe UI" pitchFamily="34" charset="-120"/>
              </a:rPr>
              <a:t>ROBUSTNESS</a:t>
            </a:r>
            <a:endParaRPr lang="en-US" sz="900" dirty="0"/>
          </a:p>
        </p:txBody>
      </p:sp>
      <p:sp>
        <p:nvSpPr>
          <p:cNvPr id="7" name="Text 5"/>
          <p:cNvSpPr/>
          <p:nvPr/>
        </p:nvSpPr>
        <p:spPr>
          <a:xfrm>
            <a:off x="566928" y="786384"/>
            <a:ext cx="8010144" cy="420624"/>
          </a:xfrm>
          <a:prstGeom prst="rect">
            <a:avLst/>
          </a:prstGeom>
          <a:noFill/>
          <a:ln/>
        </p:spPr>
        <p:txBody>
          <a:bodyPr wrap="square" rtlCol="0" anchor="ctr"/>
          <a:lstStyle/>
          <a:p>
            <a:pPr indent="0" marL="0">
              <a:buNone/>
            </a:pPr>
            <a:r>
              <a:rPr lang="en-US" sz="2400" dirty="0">
                <a:solidFill>
                  <a:srgbClr val="12151C"/>
                </a:solidFill>
                <a:latin typeface="Georgia" pitchFamily="34" charset="0"/>
                <a:ea typeface="Georgia" pitchFamily="34" charset="-122"/>
                <a:cs typeface="Georgia" pitchFamily="34" charset="-120"/>
              </a:rPr>
              <a:t>JavaScript is optional, by design</a:t>
            </a:r>
            <a:endParaRPr lang="en-US" sz="2400" dirty="0"/>
          </a:p>
        </p:txBody>
      </p:sp>
      <p:sp>
        <p:nvSpPr>
          <p:cNvPr id="8" name="Text 6"/>
          <p:cNvSpPr/>
          <p:nvPr/>
        </p:nvSpPr>
        <p:spPr>
          <a:xfrm>
            <a:off x="566928" y="1243584"/>
            <a:ext cx="8010144" cy="310896"/>
          </a:xfrm>
          <a:prstGeom prst="rect">
            <a:avLst/>
          </a:prstGeom>
          <a:noFill/>
          <a:ln/>
        </p:spPr>
        <p:txBody>
          <a:bodyPr wrap="square" rtlCol="0" anchor="t"/>
          <a:lstStyle/>
          <a:p>
            <a:pPr indent="0" marL="0">
              <a:buNone/>
            </a:pPr>
            <a:r>
              <a:rPr lang="en-US" sz="1050" dirty="0">
                <a:solidFill>
                  <a:srgbClr val="3B4250"/>
                </a:solidFill>
                <a:latin typeface="Segoe UI" pitchFamily="34" charset="0"/>
                <a:ea typeface="Segoe UI" pitchFamily="34" charset="-122"/>
                <a:cs typeface="Segoe UI" pitchFamily="34" charset="-120"/>
              </a:rPr>
              <a:t>One 6 KB file with two cosmetic jobs. If it never runs, the site still works completely.</a:t>
            </a:r>
            <a:endParaRPr lang="en-US" sz="1050" dirty="0"/>
          </a:p>
        </p:txBody>
      </p:sp>
      <p:sp>
        <p:nvSpPr>
          <p:cNvPr id="9" name="Shape 7"/>
          <p:cNvSpPr/>
          <p:nvPr/>
        </p:nvSpPr>
        <p:spPr>
          <a:xfrm>
            <a:off x="566928" y="1719072"/>
            <a:ext cx="3877056" cy="1298448"/>
          </a:xfrm>
          <a:prstGeom prst="roundRect">
            <a:avLst>
              <a:gd name="adj" fmla="val 3521"/>
            </a:avLst>
          </a:prstGeom>
          <a:solidFill>
            <a:srgbClr val="FFFFFF"/>
          </a:solidFill>
          <a:ln w="12700">
            <a:solidFill>
              <a:srgbClr val="E4E1DB"/>
            </a:solidFill>
            <a:prstDash val="solid"/>
          </a:ln>
        </p:spPr>
      </p:sp>
      <p:sp>
        <p:nvSpPr>
          <p:cNvPr id="10" name="Text 8"/>
          <p:cNvSpPr/>
          <p:nvPr/>
        </p:nvSpPr>
        <p:spPr>
          <a:xfrm>
            <a:off x="768096" y="1810512"/>
            <a:ext cx="3657600" cy="237744"/>
          </a:xfrm>
          <a:prstGeom prst="rect">
            <a:avLst/>
          </a:prstGeom>
          <a:noFill/>
          <a:ln/>
        </p:spPr>
        <p:txBody>
          <a:bodyPr wrap="square" rtlCol="0" anchor="ctr"/>
          <a:lstStyle/>
          <a:p>
            <a:pPr indent="0" marL="0">
              <a:buNone/>
            </a:pPr>
            <a:r>
              <a:rPr lang="en-US" sz="1200" dirty="0">
                <a:solidFill>
                  <a:srgbClr val="12151C"/>
                </a:solidFill>
                <a:latin typeface="Georgia" pitchFamily="34" charset="0"/>
                <a:ea typeface="Georgia" pitchFamily="34" charset="-122"/>
                <a:cs typeface="Georgia" pitchFamily="34" charset="-120"/>
              </a:rPr>
              <a:t>What site.js does</a:t>
            </a:r>
            <a:endParaRPr lang="en-US" sz="1200" dirty="0"/>
          </a:p>
        </p:txBody>
      </p:sp>
      <p:sp>
        <p:nvSpPr>
          <p:cNvPr id="11" name="Text 9"/>
          <p:cNvSpPr/>
          <p:nvPr/>
        </p:nvSpPr>
        <p:spPr>
          <a:xfrm>
            <a:off x="768096" y="2066544"/>
            <a:ext cx="3749040" cy="822960"/>
          </a:xfrm>
          <a:prstGeom prst="rect">
            <a:avLst/>
          </a:prstGeom>
          <a:noFill/>
          <a:ln/>
        </p:spPr>
        <p:txBody>
          <a:bodyPr wrap="square" rtlCol="0" anchor="ctr"/>
          <a:lstStyle/>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Adds .is-stuck to the header when scrolled</a:t>
            </a:r>
            <a:endParaRPr lang="en-US" sz="950" dirty="0"/>
          </a:p>
          <a:p>
            <a:pPr marL="342900" indent="-342900">
              <a:lnSpc>
                <a:spcPct val="122000"/>
              </a:lnSpc>
              <a:buSzPct val="100000"/>
              <a:buChar char="▪"/>
            </a:pPr>
            <a:r>
              <a:rPr lang="en-US" sz="950" dirty="0">
                <a:solidFill>
                  <a:srgbClr val="3B4250"/>
                </a:solidFill>
                <a:latin typeface="Segoe UI" pitchFamily="34" charset="0"/>
                <a:ea typeface="Segoe UI" pitchFamily="34" charset="-122"/>
                <a:cs typeface="Segoe UI" pitchFamily="34" charset="-120"/>
              </a:rPr>
              <a:t>Plays a reveal animation for [data-reveal] sections</a:t>
            </a:r>
            <a:endParaRPr lang="en-US" sz="950" dirty="0"/>
          </a:p>
        </p:txBody>
      </p:sp>
      <p:sp>
        <p:nvSpPr>
          <p:cNvPr id="12" name="Shape 10"/>
          <p:cNvSpPr/>
          <p:nvPr/>
        </p:nvSpPr>
        <p:spPr>
          <a:xfrm>
            <a:off x="4700016" y="1719072"/>
            <a:ext cx="3877056" cy="1298448"/>
          </a:xfrm>
          <a:prstGeom prst="roundRect">
            <a:avLst>
              <a:gd name="adj" fmla="val 3521"/>
            </a:avLst>
          </a:prstGeom>
          <a:solidFill>
            <a:srgbClr val="0B1220"/>
          </a:solidFill>
          <a:ln w="12700">
            <a:solidFill>
              <a:srgbClr val="0B1220"/>
            </a:solidFill>
            <a:prstDash val="solid"/>
          </a:ln>
        </p:spPr>
      </p:sp>
      <p:sp>
        <p:nvSpPr>
          <p:cNvPr id="13" name="Text 11"/>
          <p:cNvSpPr/>
          <p:nvPr/>
        </p:nvSpPr>
        <p:spPr>
          <a:xfrm>
            <a:off x="4901184" y="1810512"/>
            <a:ext cx="3657600" cy="237744"/>
          </a:xfrm>
          <a:prstGeom prst="rect">
            <a:avLst/>
          </a:prstGeom>
          <a:noFill/>
          <a:ln/>
        </p:spPr>
        <p:txBody>
          <a:bodyPr wrap="square" rtlCol="0" anchor="ctr"/>
          <a:lstStyle/>
          <a:p>
            <a:pPr indent="0" marL="0">
              <a:buNone/>
            </a:pPr>
            <a:r>
              <a:rPr lang="en-US" sz="1200" dirty="0">
                <a:solidFill>
                  <a:srgbClr val="FFFFFF"/>
                </a:solidFill>
                <a:latin typeface="Georgia" pitchFamily="34" charset="0"/>
                <a:ea typeface="Georgia" pitchFamily="34" charset="-122"/>
                <a:cs typeface="Georgia" pitchFamily="34" charset="-120"/>
              </a:rPr>
              <a:t>The bug this design prevents</a:t>
            </a:r>
            <a:endParaRPr lang="en-US" sz="1200" dirty="0"/>
          </a:p>
        </p:txBody>
      </p:sp>
      <p:sp>
        <p:nvSpPr>
          <p:cNvPr id="14" name="Text 12"/>
          <p:cNvSpPr/>
          <p:nvPr/>
        </p:nvSpPr>
        <p:spPr>
          <a:xfrm>
            <a:off x="4901184" y="2066544"/>
            <a:ext cx="3977640" cy="877824"/>
          </a:xfrm>
          <a:prstGeom prst="rect">
            <a:avLst/>
          </a:prstGeom>
          <a:noFill/>
          <a:ln/>
        </p:spPr>
        <p:txBody>
          <a:bodyPr wrap="square" rtlCol="0" anchor="ctr"/>
          <a:lstStyle/>
          <a:p>
            <a:pPr indent="0" marL="0">
              <a:lnSpc>
                <a:spcPct val="118000"/>
              </a:lnSpc>
              <a:buNone/>
            </a:pPr>
            <a:r>
              <a:rPr lang="en-US" sz="820" dirty="0">
                <a:solidFill>
                  <a:srgbClr val="B9C1CC"/>
                </a:solidFill>
                <a:latin typeface="Segoe UI" pitchFamily="34" charset="0"/>
                <a:ea typeface="Segoe UI" pitchFamily="34" charset="-122"/>
                <a:cs typeface="Segoe UI" pitchFamily="34" charset="-120"/>
              </a:rPr>
              <a:t>Hiding sections in CSS and revealing them with JavaScript turns any script failure into blank sections. During development the observer was watching DOM nodes Blazor had already replaced, so six sections stayed permanently invisible - the animation looked fine while content was missing.</a:t>
            </a:r>
            <a:endParaRPr lang="en-US" sz="82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3108960"/>
          <a:ext cx="8010144" cy="914400"/>
        </p:xfrm>
        <a:graphic>
          <a:graphicData uri="http://schemas.openxmlformats.org/drawingml/2006/table">
            <a:tbl>
              <a:tblPr/>
              <a:tblGrid>
                <a:gridCol w="3291840"/>
                <a:gridCol w="4718304"/>
              </a:tblGrid>
              <a:tr h="233172">
                <a:tc>
                  <a:txBody>
                    <a:bodyPr/>
                    <a:lstStyle/>
                    <a:p>
                      <a:pPr algn="l" indent="0" marL="0">
                        <a:buNone/>
                      </a:pPr>
                      <a:r>
                        <a:rPr lang="en-US" sz="900" b="1" dirty="0">
                          <a:solidFill>
                            <a:srgbClr val="FFFFFF"/>
                          </a:solidFill>
                          <a:latin typeface="Segoe UI" pitchFamily="34" charset="0"/>
                          <a:ea typeface="Segoe UI" pitchFamily="34" charset="-122"/>
                          <a:cs typeface="Segoe UI" pitchFamily="34" charset="-120"/>
                        </a:rPr>
                        <a:t>Situation</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FFFFFF"/>
                          </a:solidFill>
                          <a:latin typeface="Segoe UI" pitchFamily="34" charset="0"/>
                          <a:ea typeface="Segoe UI" pitchFamily="34" charset="-122"/>
                          <a:cs typeface="Segoe UI" pitchFamily="34" charset="-120"/>
                        </a:rPr>
                        <a:t>Result</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233172">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JavaScript disabled or blocked</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Sections visible, no animation</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233172">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prefers-reduced-motion: reduce</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Sections visible, no animation</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233172">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site.js throws an error</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Sections visible, no animation</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233172">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Normal</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Sections animate in on scroll</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bl>
          </a:graphicData>
        </a:graphic>
      </p:graphicFrame>
      <p:sp>
        <p:nvSpPr>
          <p:cNvPr id="16" name="Text 13"/>
          <p:cNvSpPr/>
          <p:nvPr/>
        </p:nvSpPr>
        <p:spPr>
          <a:xfrm>
            <a:off x="566928" y="4315968"/>
            <a:ext cx="8010144" cy="274320"/>
          </a:xfrm>
          <a:prstGeom prst="rect">
            <a:avLst/>
          </a:prstGeom>
          <a:noFill/>
          <a:ln/>
        </p:spPr>
        <p:txBody>
          <a:bodyPr wrap="square" rtlCol="0" anchor="ctr"/>
          <a:lstStyle/>
          <a:p>
            <a:pPr indent="0" marL="0">
              <a:buNone/>
            </a:pPr>
            <a:r>
              <a:rPr lang="en-US" sz="860" b="1" dirty="0">
                <a:solidFill>
                  <a:srgbClr val="12151C"/>
                </a:solidFill>
                <a:latin typeface="Segoe UI" pitchFamily="34" charset="0"/>
                <a:ea typeface="Segoe UI" pitchFamily="34" charset="-122"/>
                <a:cs typeface="Segoe UI" pitchFamily="34" charset="-120"/>
              </a:rPr>
              <a:t>In every failure mode the content is still there. A broken animation must never cost a visitor a section.</a:t>
            </a:r>
            <a:endParaRPr lang="en-US" sz="8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566928" y="4668012"/>
            <a:ext cx="8010144" cy="10973"/>
          </a:xfrm>
          <a:prstGeom prst="rect">
            <a:avLst/>
          </a:prstGeom>
          <a:solidFill>
            <a:srgbClr val="E4E1DB"/>
          </a:solidFill>
          <a:ln/>
        </p:spPr>
      </p:sp>
      <p:sp>
        <p:nvSpPr>
          <p:cNvPr id="3" name="Text 1"/>
          <p:cNvSpPr/>
          <p:nvPr/>
        </p:nvSpPr>
        <p:spPr>
          <a:xfrm>
            <a:off x="566928" y="4722876"/>
            <a:ext cx="6408115" cy="274320"/>
          </a:xfrm>
          <a:prstGeom prst="rect">
            <a:avLst/>
          </a:prstGeom>
          <a:noFill/>
          <a:ln/>
        </p:spPr>
        <p:txBody>
          <a:bodyPr wrap="square" rtlCol="0" anchor="ctr"/>
          <a:lstStyle/>
          <a:p>
            <a:pPr indent="0" marL="0">
              <a:buNone/>
            </a:pPr>
            <a:r>
              <a:rPr lang="en-US" sz="800" dirty="0">
                <a:solidFill>
                  <a:srgbClr val="5B6472"/>
                </a:solidFill>
                <a:latin typeface="Segoe UI" pitchFamily="34" charset="0"/>
                <a:ea typeface="Segoe UI" pitchFamily="34" charset="-122"/>
                <a:cs typeface="Segoe UI" pitchFamily="34" charset="-120"/>
              </a:rPr>
              <a:t>Polypus  |  Architecture of the marketing website  |  owned by Axonite</a:t>
            </a:r>
            <a:endParaRPr lang="en-US" sz="800" dirty="0"/>
          </a:p>
        </p:txBody>
      </p:sp>
      <p:sp>
        <p:nvSpPr>
          <p:cNvPr id="4" name="Text 2"/>
          <p:cNvSpPr/>
          <p:nvPr/>
        </p:nvSpPr>
        <p:spPr>
          <a:xfrm>
            <a:off x="8028432" y="4722876"/>
            <a:ext cx="548640" cy="274320"/>
          </a:xfrm>
          <a:prstGeom prst="rect">
            <a:avLst/>
          </a:prstGeom>
          <a:noFill/>
          <a:ln/>
        </p:spPr>
        <p:txBody>
          <a:bodyPr wrap="square" rtlCol="0" anchor="ctr"/>
          <a:lstStyle/>
          <a:p>
            <a:pPr algn="r" indent="0" marL="0">
              <a:buNone/>
            </a:pPr>
            <a:r>
              <a:rPr lang="en-US" sz="800" dirty="0">
                <a:solidFill>
                  <a:srgbClr val="5B6472"/>
                </a:solidFill>
                <a:latin typeface="Consolas" pitchFamily="34" charset="0"/>
                <a:ea typeface="Consolas" pitchFamily="34" charset="-122"/>
                <a:cs typeface="Consolas" pitchFamily="34" charset="-120"/>
              </a:rPr>
              <a:t>11</a:t>
            </a:r>
            <a:endParaRPr lang="en-US" sz="800" dirty="0"/>
          </a:p>
        </p:txBody>
      </p:sp>
      <p:sp>
        <p:nvSpPr>
          <p:cNvPr id="5" name="Shape 3"/>
          <p:cNvSpPr/>
          <p:nvPr/>
        </p:nvSpPr>
        <p:spPr>
          <a:xfrm>
            <a:off x="566928" y="384048"/>
            <a:ext cx="420624" cy="50292"/>
          </a:xfrm>
          <a:prstGeom prst="rect">
            <a:avLst/>
          </a:prstGeom>
          <a:solidFill>
            <a:srgbClr val="0F766E"/>
          </a:solidFill>
          <a:ln/>
        </p:spPr>
      </p:sp>
      <p:sp>
        <p:nvSpPr>
          <p:cNvPr id="6" name="Text 4"/>
          <p:cNvSpPr/>
          <p:nvPr/>
        </p:nvSpPr>
        <p:spPr>
          <a:xfrm>
            <a:off x="566928" y="548640"/>
            <a:ext cx="8010144" cy="201168"/>
          </a:xfrm>
          <a:prstGeom prst="rect">
            <a:avLst/>
          </a:prstGeom>
          <a:noFill/>
          <a:ln/>
        </p:spPr>
        <p:txBody>
          <a:bodyPr wrap="square" rtlCol="0" anchor="ctr"/>
          <a:lstStyle/>
          <a:p>
            <a:pPr indent="0" marL="0">
              <a:buNone/>
            </a:pPr>
            <a:r>
              <a:rPr lang="en-US" sz="900" b="1" spc="140" kern="0" dirty="0">
                <a:solidFill>
                  <a:srgbClr val="0F766E"/>
                </a:solidFill>
                <a:latin typeface="Segoe UI" pitchFamily="34" charset="0"/>
                <a:ea typeface="Segoe UI" pitchFamily="34" charset="-122"/>
                <a:cs typeface="Segoe UI" pitchFamily="34" charset="-120"/>
              </a:rPr>
              <a:t>QUALITY</a:t>
            </a:r>
            <a:endParaRPr lang="en-US" sz="900" dirty="0"/>
          </a:p>
        </p:txBody>
      </p:sp>
      <p:sp>
        <p:nvSpPr>
          <p:cNvPr id="7" name="Text 5"/>
          <p:cNvSpPr/>
          <p:nvPr/>
        </p:nvSpPr>
        <p:spPr>
          <a:xfrm>
            <a:off x="566928" y="786384"/>
            <a:ext cx="8010144" cy="420624"/>
          </a:xfrm>
          <a:prstGeom prst="rect">
            <a:avLst/>
          </a:prstGeom>
          <a:noFill/>
          <a:ln/>
        </p:spPr>
        <p:txBody>
          <a:bodyPr wrap="square" rtlCol="0" anchor="ctr"/>
          <a:lstStyle/>
          <a:p>
            <a:pPr indent="0" marL="0">
              <a:buNone/>
            </a:pPr>
            <a:r>
              <a:rPr lang="en-US" sz="2400" dirty="0">
                <a:solidFill>
                  <a:srgbClr val="12151C"/>
                </a:solidFill>
                <a:latin typeface="Georgia" pitchFamily="34" charset="0"/>
                <a:ea typeface="Georgia" pitchFamily="34" charset="-122"/>
                <a:cs typeface="Georgia" pitchFamily="34" charset="-120"/>
              </a:rPr>
              <a:t>What was tested, and what it found</a:t>
            </a:r>
            <a:endParaRPr lang="en-US" sz="2400" dirty="0"/>
          </a:p>
        </p:txBody>
      </p:sp>
      <p:sp>
        <p:nvSpPr>
          <p:cNvPr id="8" name="Text 6"/>
          <p:cNvSpPr/>
          <p:nvPr/>
        </p:nvSpPr>
        <p:spPr>
          <a:xfrm>
            <a:off x="566928" y="1243584"/>
            <a:ext cx="8010144" cy="310896"/>
          </a:xfrm>
          <a:prstGeom prst="rect">
            <a:avLst/>
          </a:prstGeom>
          <a:noFill/>
          <a:ln/>
        </p:spPr>
        <p:txBody>
          <a:bodyPr wrap="square" rtlCol="0" anchor="t"/>
          <a:lstStyle/>
          <a:p>
            <a:pPr indent="0" marL="0">
              <a:buNone/>
            </a:pPr>
            <a:r>
              <a:rPr lang="en-US" sz="1050" dirty="0">
                <a:solidFill>
                  <a:srgbClr val="3B4250"/>
                </a:solidFill>
                <a:latin typeface="Segoe UI" pitchFamily="34" charset="0"/>
                <a:ea typeface="Segoe UI" pitchFamily="34" charset="-122"/>
                <a:cs typeface="Segoe UI" pitchFamily="34" charset="-120"/>
              </a:rPr>
              <a:t>Two real defects were found by testing rather than by reading the code.</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719072"/>
          <a:ext cx="8010144" cy="914400"/>
        </p:xfrm>
        <a:graphic>
          <a:graphicData uri="http://schemas.openxmlformats.org/drawingml/2006/table">
            <a:tbl>
              <a:tblPr/>
              <a:tblGrid>
                <a:gridCol w="2194560"/>
                <a:gridCol w="3840480"/>
                <a:gridCol w="1975104"/>
              </a:tblGrid>
              <a:tr h="217627">
                <a:tc>
                  <a:txBody>
                    <a:bodyPr/>
                    <a:lstStyle/>
                    <a:p>
                      <a:pPr algn="l" indent="0" marL="0">
                        <a:buNone/>
                      </a:pPr>
                      <a:r>
                        <a:rPr lang="en-US" sz="900" b="1" dirty="0">
                          <a:solidFill>
                            <a:srgbClr val="3B4250"/>
                          </a:solidFill>
                          <a:latin typeface="Segoe UI" pitchFamily="34" charset="0"/>
                          <a:ea typeface="Segoe UI" pitchFamily="34" charset="-122"/>
                          <a:cs typeface="Segoe UI" pitchFamily="34" charset="-120"/>
                        </a:rPr>
                        <a:t>Check</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3B4250"/>
                          </a:solidFill>
                          <a:latin typeface="Segoe UI" pitchFamily="34" charset="0"/>
                          <a:ea typeface="Segoe UI" pitchFamily="34" charset="-122"/>
                          <a:cs typeface="Segoe UI" pitchFamily="34" charset="-120"/>
                        </a:rPr>
                        <a:t>Method</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3B4250"/>
                          </a:solidFill>
                          <a:latin typeface="Segoe UI" pitchFamily="34" charset="0"/>
                          <a:ea typeface="Segoe UI" pitchFamily="34" charset="-122"/>
                          <a:cs typeface="Segoe UI" pitchFamily="34" charset="-120"/>
                        </a:rPr>
                        <a:t>Result</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Compilation</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dotnet build -c Release</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0 warnings, 0 errors</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Every route</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HTTP request to 19 routes</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All 200; unknown URL returns 404</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Every link</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All hrefs extracted from every page</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0 broken links</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CSS classes</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226 classes in Razor vs stylesheets</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All resolve</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CSS tokens</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46 var(--x) uses vs 53 definitions</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0 undefined</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Plan to contact</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Clicked every plan CTA</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Plan preselected on arrival</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Form behaviour</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Empty submit, then valid submit</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Errors shown; reference issued</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Widgets</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Price toggle, accordion, search, nav</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All respond</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r h="217627">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Responsive</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1440 px and 390 px viewports</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c>
                  <a:txBody>
                    <a:bodyPr/>
                    <a:lstStyle/>
                    <a:p>
                      <a:pPr algn="l" indent="0" marL="0">
                        <a:buNone/>
                      </a:pPr>
                      <a:r>
                        <a:rPr lang="en-US" sz="900" dirty="0">
                          <a:solidFill>
                            <a:srgbClr val="3B4250"/>
                          </a:solidFill>
                          <a:latin typeface="Segoe UI" pitchFamily="34" charset="0"/>
                          <a:ea typeface="Segoe UI" pitchFamily="34" charset="-122"/>
                          <a:cs typeface="Segoe UI" pitchFamily="34" charset="-120"/>
                        </a:rPr>
                        <a:t>No horizontal overflow</a:t>
                      </a:r>
                      <a:endParaRPr lang="en-US" sz="900" dirty="0">
                        <a:latin typeface="Segoe UI" charset="0"/>
                        <a:ea typeface="Segoe UI" charset="0"/>
                        <a:cs typeface="Segoe UI" charset="0"/>
                      </a:endParaRPr>
                    </a:p>
                  </a:txBody>
                  <a:tcPr marL="91440" marR="91440" marT="45720" marB="45720" anchor="ctr">
                    <a:lnL w="12700" cap="flat" cmpd="sng" algn="ctr">
                      <a:solidFill>
                        <a:srgbClr val="E4E1DB"/>
                      </a:solidFill>
                      <a:prstDash val="solid"/>
                      <a:round/>
                      <a:headEnd type="none" w="med" len="med"/>
                      <a:tailEnd type="none" w="med" len="med"/>
                    </a:lnL>
                    <a:lnR w="12700" cap="flat" cmpd="sng" algn="ctr">
                      <a:solidFill>
                        <a:srgbClr val="E4E1DB"/>
                      </a:solidFill>
                      <a:prstDash val="solid"/>
                      <a:round/>
                      <a:headEnd type="none" w="med" len="med"/>
                      <a:tailEnd type="none" w="med" len="med"/>
                    </a:lnR>
                    <a:lnT w="12700" cap="flat" cmpd="sng" algn="ctr">
                      <a:solidFill>
                        <a:srgbClr val="E4E1DB"/>
                      </a:solidFill>
                      <a:prstDash val="solid"/>
                      <a:round/>
                      <a:headEnd type="none" w="med" len="med"/>
                      <a:tailEnd type="none" w="med" len="med"/>
                    </a:lnT>
                    <a:lnB w="12700" cap="flat" cmpd="sng" algn="ctr">
                      <a:solidFill>
                        <a:srgbClr val="E4E1DB"/>
                      </a:solidFill>
                      <a:prstDash val="solid"/>
                      <a:round/>
                      <a:headEnd type="none" w="med" len="med"/>
                      <a:tailEnd type="none" w="med" len="med"/>
                    </a:lnB>
                    <a:solidFill>
                      <a:srgbClr val="FFFFFF"/>
                    </a:solidFill>
                  </a:tcPr>
                </a:tc>
              </a:tr>
            </a:tbl>
          </a:graphicData>
        </a:graphic>
      </p:graphicFrame>
      <p:sp>
        <p:nvSpPr>
          <p:cNvPr id="10" name="Text 7"/>
          <p:cNvSpPr/>
          <p:nvPr/>
        </p:nvSpPr>
        <p:spPr>
          <a:xfrm>
            <a:off x="566928" y="4005072"/>
            <a:ext cx="3657600" cy="219456"/>
          </a:xfrm>
          <a:prstGeom prst="rect">
            <a:avLst/>
          </a:prstGeom>
          <a:noFill/>
          <a:ln/>
        </p:spPr>
        <p:txBody>
          <a:bodyPr wrap="square" rtlCol="0" anchor="ctr"/>
          <a:lstStyle/>
          <a:p>
            <a:pPr indent="0" marL="0">
              <a:buNone/>
            </a:pPr>
            <a:r>
              <a:rPr lang="en-US" sz="1100" dirty="0">
                <a:solidFill>
                  <a:srgbClr val="12151C"/>
                </a:solidFill>
                <a:latin typeface="Georgia" pitchFamily="34" charset="0"/>
                <a:ea typeface="Georgia" pitchFamily="34" charset="-122"/>
                <a:cs typeface="Georgia" pitchFamily="34" charset="-120"/>
              </a:rPr>
              <a:t>Defects found and fixed</a:t>
            </a:r>
            <a:endParaRPr lang="en-US" sz="1100" dirty="0"/>
          </a:p>
        </p:txBody>
      </p:sp>
      <p:sp>
        <p:nvSpPr>
          <p:cNvPr id="11" name="Text 8"/>
          <p:cNvSpPr/>
          <p:nvPr/>
        </p:nvSpPr>
        <p:spPr>
          <a:xfrm>
            <a:off x="566928" y="4233672"/>
            <a:ext cx="8010144" cy="402336"/>
          </a:xfrm>
          <a:prstGeom prst="rect">
            <a:avLst/>
          </a:prstGeom>
          <a:noFill/>
          <a:ln/>
        </p:spPr>
        <p:txBody>
          <a:bodyPr wrap="square" rtlCol="0" anchor="ctr"/>
          <a:lstStyle/>
          <a:p>
            <a:pPr indent="0" marL="0">
              <a:lnSpc>
                <a:spcPct val="114000"/>
              </a:lnSpc>
              <a:buNone/>
            </a:pPr>
            <a:r>
              <a:rPr lang="en-US" sz="740" dirty="0">
                <a:solidFill>
                  <a:srgbClr val="C2593F"/>
                </a:solidFill>
                <a:latin typeface="Segoe UI" pitchFamily="34" charset="0"/>
                <a:ea typeface="Segoe UI" pitchFamily="34" charset="-122"/>
                <a:cs typeface="Segoe UI" pitchFamily="34" charset="-120"/>
              </a:rPr>
              <a:t>1.  NavigationCatalog passed Href where Label was expected. Both are strings, so it compiled - but every header dropdown and footer link was broken. Fixed with named arguments.   </a:t>
            </a:r>
            <a:pPr indent="0" marL="0">
              <a:lnSpc>
                <a:spcPct val="114000"/>
              </a:lnSpc>
              <a:buNone/>
            </a:pPr>
            <a:r>
              <a:rPr lang="en-US" sz="740" dirty="0">
                <a:solidFill>
                  <a:srgbClr val="C2593F"/>
                </a:solidFill>
                <a:latin typeface="Segoe UI" pitchFamily="34" charset="0"/>
                <a:ea typeface="Segoe UI" pitchFamily="34" charset="-122"/>
                <a:cs typeface="Segoe UI" pitchFamily="34" charset="-120"/>
              </a:rPr>
              <a:t>2.  The scroll-reveal observer watched nodes that Blazor subsequently replaced, leaving six home-page sections invisible. Fixed by making the animation fail-safe.</a:t>
            </a:r>
            <a:endParaRPr lang="en-US" sz="7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7"/>
        </a:solidFill>
      </p:bgPr>
    </p:bg>
    <p:spTree>
      <p:nvGrpSpPr>
        <p:cNvPr id="1" name=""/>
        <p:cNvGrpSpPr/>
        <p:nvPr/>
      </p:nvGrpSpPr>
      <p:grpSpPr>
        <a:xfrm>
          <a:off x="0" y="0"/>
          <a:ext cx="0" cy="0"/>
          <a:chOff x="0" y="0"/>
          <a:chExt cx="0" cy="0"/>
        </a:xfrm>
      </p:grpSpPr>
      <p:sp>
        <p:nvSpPr>
          <p:cNvPr id="2" name="Shape 0"/>
          <p:cNvSpPr/>
          <p:nvPr/>
        </p:nvSpPr>
        <p:spPr>
          <a:xfrm>
            <a:off x="566928" y="4668012"/>
            <a:ext cx="8010144" cy="10973"/>
          </a:xfrm>
          <a:prstGeom prst="rect">
            <a:avLst/>
          </a:prstGeom>
          <a:solidFill>
            <a:srgbClr val="E4E1DB"/>
          </a:solidFill>
          <a:ln/>
        </p:spPr>
      </p:sp>
      <p:sp>
        <p:nvSpPr>
          <p:cNvPr id="3" name="Text 1"/>
          <p:cNvSpPr/>
          <p:nvPr/>
        </p:nvSpPr>
        <p:spPr>
          <a:xfrm>
            <a:off x="566928" y="4722876"/>
            <a:ext cx="6408115" cy="274320"/>
          </a:xfrm>
          <a:prstGeom prst="rect">
            <a:avLst/>
          </a:prstGeom>
          <a:noFill/>
          <a:ln/>
        </p:spPr>
        <p:txBody>
          <a:bodyPr wrap="square" rtlCol="0" anchor="ctr"/>
          <a:lstStyle/>
          <a:p>
            <a:pPr indent="0" marL="0">
              <a:buNone/>
            </a:pPr>
            <a:r>
              <a:rPr lang="en-US" sz="800" dirty="0">
                <a:solidFill>
                  <a:srgbClr val="5B6472"/>
                </a:solidFill>
                <a:latin typeface="Segoe UI" pitchFamily="34" charset="0"/>
                <a:ea typeface="Segoe UI" pitchFamily="34" charset="-122"/>
                <a:cs typeface="Segoe UI" pitchFamily="34" charset="-120"/>
              </a:rPr>
              <a:t>Polypus  |  Architecture of the marketing website  |  owned by Axonite</a:t>
            </a:r>
            <a:endParaRPr lang="en-US" sz="800" dirty="0"/>
          </a:p>
        </p:txBody>
      </p:sp>
      <p:sp>
        <p:nvSpPr>
          <p:cNvPr id="4" name="Text 2"/>
          <p:cNvSpPr/>
          <p:nvPr/>
        </p:nvSpPr>
        <p:spPr>
          <a:xfrm>
            <a:off x="8028432" y="4722876"/>
            <a:ext cx="548640" cy="274320"/>
          </a:xfrm>
          <a:prstGeom prst="rect">
            <a:avLst/>
          </a:prstGeom>
          <a:noFill/>
          <a:ln/>
        </p:spPr>
        <p:txBody>
          <a:bodyPr wrap="square" rtlCol="0" anchor="ctr"/>
          <a:lstStyle/>
          <a:p>
            <a:pPr algn="r" indent="0" marL="0">
              <a:buNone/>
            </a:pPr>
            <a:r>
              <a:rPr lang="en-US" sz="800" dirty="0">
                <a:solidFill>
                  <a:srgbClr val="5B6472"/>
                </a:solidFill>
                <a:latin typeface="Consolas" pitchFamily="34" charset="0"/>
                <a:ea typeface="Consolas" pitchFamily="34" charset="-122"/>
                <a:cs typeface="Consolas" pitchFamily="34" charset="-120"/>
              </a:rPr>
              <a:t>12</a:t>
            </a:r>
            <a:endParaRPr lang="en-US" sz="800" dirty="0"/>
          </a:p>
        </p:txBody>
      </p:sp>
      <p:sp>
        <p:nvSpPr>
          <p:cNvPr id="5" name="Shape 3"/>
          <p:cNvSpPr/>
          <p:nvPr/>
        </p:nvSpPr>
        <p:spPr>
          <a:xfrm>
            <a:off x="566928" y="384048"/>
            <a:ext cx="420624" cy="50292"/>
          </a:xfrm>
          <a:prstGeom prst="rect">
            <a:avLst/>
          </a:prstGeom>
          <a:solidFill>
            <a:srgbClr val="0F766E"/>
          </a:solidFill>
          <a:ln/>
        </p:spPr>
      </p:sp>
      <p:sp>
        <p:nvSpPr>
          <p:cNvPr id="6" name="Text 4"/>
          <p:cNvSpPr/>
          <p:nvPr/>
        </p:nvSpPr>
        <p:spPr>
          <a:xfrm>
            <a:off x="566928" y="548640"/>
            <a:ext cx="8010144" cy="201168"/>
          </a:xfrm>
          <a:prstGeom prst="rect">
            <a:avLst/>
          </a:prstGeom>
          <a:noFill/>
          <a:ln/>
        </p:spPr>
        <p:txBody>
          <a:bodyPr wrap="square" rtlCol="0" anchor="ctr"/>
          <a:lstStyle/>
          <a:p>
            <a:pPr indent="0" marL="0">
              <a:buNone/>
            </a:pPr>
            <a:r>
              <a:rPr lang="en-US" sz="900" b="1" spc="140" kern="0" dirty="0">
                <a:solidFill>
                  <a:srgbClr val="0F766E"/>
                </a:solidFill>
                <a:latin typeface="Segoe UI" pitchFamily="34" charset="0"/>
                <a:ea typeface="Segoe UI" pitchFamily="34" charset="-122"/>
                <a:cs typeface="Segoe UI" pitchFamily="34" charset="-120"/>
              </a:rPr>
              <a:t>NEXT STEPS</a:t>
            </a:r>
            <a:endParaRPr lang="en-US" sz="900" dirty="0"/>
          </a:p>
        </p:txBody>
      </p:sp>
      <p:sp>
        <p:nvSpPr>
          <p:cNvPr id="7" name="Text 5"/>
          <p:cNvSpPr/>
          <p:nvPr/>
        </p:nvSpPr>
        <p:spPr>
          <a:xfrm>
            <a:off x="566928" y="786384"/>
            <a:ext cx="8010144" cy="420624"/>
          </a:xfrm>
          <a:prstGeom prst="rect">
            <a:avLst/>
          </a:prstGeom>
          <a:noFill/>
          <a:ln/>
        </p:spPr>
        <p:txBody>
          <a:bodyPr wrap="square" rtlCol="0" anchor="ctr"/>
          <a:lstStyle/>
          <a:p>
            <a:pPr indent="0" marL="0">
              <a:buNone/>
            </a:pPr>
            <a:r>
              <a:rPr lang="en-US" sz="2400" dirty="0">
                <a:solidFill>
                  <a:srgbClr val="12151C"/>
                </a:solidFill>
                <a:latin typeface="Georgia" pitchFamily="34" charset="0"/>
                <a:ea typeface="Georgia" pitchFamily="34" charset="-122"/>
                <a:cs typeface="Georgia" pitchFamily="34" charset="-120"/>
              </a:rPr>
              <a:t>What to change before this goes public</a:t>
            </a:r>
            <a:endParaRPr lang="en-US" sz="2400" dirty="0"/>
          </a:p>
        </p:txBody>
      </p:sp>
      <p:sp>
        <p:nvSpPr>
          <p:cNvPr id="8" name="Text 6"/>
          <p:cNvSpPr/>
          <p:nvPr/>
        </p:nvSpPr>
        <p:spPr>
          <a:xfrm>
            <a:off x="566928" y="1243584"/>
            <a:ext cx="8010144" cy="310896"/>
          </a:xfrm>
          <a:prstGeom prst="rect">
            <a:avLst/>
          </a:prstGeom>
          <a:noFill/>
          <a:ln/>
        </p:spPr>
        <p:txBody>
          <a:bodyPr wrap="square" rtlCol="0" anchor="t"/>
          <a:lstStyle/>
          <a:p>
            <a:pPr indent="0" marL="0">
              <a:buNone/>
            </a:pPr>
            <a:r>
              <a:rPr lang="en-US" sz="1050" dirty="0">
                <a:solidFill>
                  <a:srgbClr val="3B4250"/>
                </a:solidFill>
                <a:latin typeface="Segoe UI" pitchFamily="34" charset="0"/>
                <a:ea typeface="Segoe UI" pitchFamily="34" charset="-122"/>
                <a:cs typeface="Segoe UI" pitchFamily="34" charset="-120"/>
              </a:rPr>
              <a:t>The site is complete and running. These are the deliberate placeholders.</a:t>
            </a:r>
            <a:endParaRPr lang="en-US" sz="1050" dirty="0"/>
          </a:p>
        </p:txBody>
      </p:sp>
      <p:sp>
        <p:nvSpPr>
          <p:cNvPr id="9" name="Shape 7"/>
          <p:cNvSpPr/>
          <p:nvPr/>
        </p:nvSpPr>
        <p:spPr>
          <a:xfrm>
            <a:off x="566928" y="1719072"/>
            <a:ext cx="3840480" cy="768096"/>
          </a:xfrm>
          <a:prstGeom prst="roundRect">
            <a:avLst>
              <a:gd name="adj" fmla="val 4762"/>
            </a:avLst>
          </a:prstGeom>
          <a:solidFill>
            <a:srgbClr val="FFFFFF"/>
          </a:solidFill>
          <a:ln w="12700">
            <a:solidFill>
              <a:srgbClr val="E4E1DB"/>
            </a:solidFill>
            <a:prstDash val="solid"/>
          </a:ln>
        </p:spPr>
      </p:sp>
      <p:sp>
        <p:nvSpPr>
          <p:cNvPr id="10" name="Shape 8"/>
          <p:cNvSpPr/>
          <p:nvPr/>
        </p:nvSpPr>
        <p:spPr>
          <a:xfrm>
            <a:off x="566928" y="1719072"/>
            <a:ext cx="50292" cy="768096"/>
          </a:xfrm>
          <a:prstGeom prst="rect">
            <a:avLst/>
          </a:prstGeom>
          <a:solidFill>
            <a:srgbClr val="C2593F"/>
          </a:solidFill>
          <a:ln/>
        </p:spPr>
      </p:sp>
      <p:sp>
        <p:nvSpPr>
          <p:cNvPr id="11" name="Text 9"/>
          <p:cNvSpPr/>
          <p:nvPr/>
        </p:nvSpPr>
        <p:spPr>
          <a:xfrm>
            <a:off x="749808" y="1828800"/>
            <a:ext cx="384048" cy="256032"/>
          </a:xfrm>
          <a:prstGeom prst="rect">
            <a:avLst/>
          </a:prstGeom>
          <a:noFill/>
          <a:ln/>
        </p:spPr>
        <p:txBody>
          <a:bodyPr wrap="square" rtlCol="0" anchor="ctr"/>
          <a:lstStyle/>
          <a:p>
            <a:pPr indent="0" marL="0">
              <a:buNone/>
            </a:pPr>
            <a:r>
              <a:rPr lang="en-US" sz="1000" b="1" dirty="0">
                <a:solidFill>
                  <a:srgbClr val="C2593F"/>
                </a:solidFill>
                <a:latin typeface="Consolas" pitchFamily="34" charset="0"/>
                <a:ea typeface="Consolas" pitchFamily="34" charset="-122"/>
                <a:cs typeface="Consolas" pitchFamily="34" charset="-120"/>
              </a:rPr>
              <a:t>01</a:t>
            </a:r>
            <a:endParaRPr lang="en-US" sz="1000" dirty="0"/>
          </a:p>
        </p:txBody>
      </p:sp>
      <p:sp>
        <p:nvSpPr>
          <p:cNvPr id="12" name="Text 10"/>
          <p:cNvSpPr/>
          <p:nvPr/>
        </p:nvSpPr>
        <p:spPr>
          <a:xfrm>
            <a:off x="1133856" y="1819656"/>
            <a:ext cx="3108960" cy="237744"/>
          </a:xfrm>
          <a:prstGeom prst="rect">
            <a:avLst/>
          </a:prstGeom>
          <a:noFill/>
          <a:ln/>
        </p:spPr>
        <p:txBody>
          <a:bodyPr wrap="square" rtlCol="0" anchor="ctr"/>
          <a:lstStyle/>
          <a:p>
            <a:pPr indent="0" marL="0">
              <a:buNone/>
            </a:pPr>
            <a:r>
              <a:rPr lang="en-US" sz="1050" b="1" dirty="0">
                <a:solidFill>
                  <a:srgbClr val="12151C"/>
                </a:solidFill>
                <a:latin typeface="Segoe UI" pitchFamily="34" charset="0"/>
                <a:ea typeface="Segoe UI" pitchFamily="34" charset="-122"/>
                <a:cs typeface="Segoe UI" pitchFamily="34" charset="-120"/>
              </a:rPr>
              <a:t>Wire up the contact form</a:t>
            </a:r>
            <a:endParaRPr lang="en-US" sz="1050" dirty="0"/>
          </a:p>
        </p:txBody>
      </p:sp>
      <p:sp>
        <p:nvSpPr>
          <p:cNvPr id="13" name="Text 11"/>
          <p:cNvSpPr/>
          <p:nvPr/>
        </p:nvSpPr>
        <p:spPr>
          <a:xfrm>
            <a:off x="1133856" y="2057400"/>
            <a:ext cx="3108960" cy="384048"/>
          </a:xfrm>
          <a:prstGeom prst="rect">
            <a:avLst/>
          </a:prstGeom>
          <a:noFill/>
          <a:ln/>
        </p:spPr>
        <p:txBody>
          <a:bodyPr wrap="square" rtlCol="0" anchor="ctr"/>
          <a:lstStyle/>
          <a:p>
            <a:pPr indent="0" marL="0">
              <a:lnSpc>
                <a:spcPct val="110000"/>
              </a:lnSpc>
              <a:buNone/>
            </a:pPr>
            <a:r>
              <a:rPr lang="en-US" sz="800" dirty="0">
                <a:solidFill>
                  <a:srgbClr val="5B6472"/>
                </a:solidFill>
                <a:latin typeface="Segoe UI" pitchFamily="34" charset="0"/>
                <a:ea typeface="Segoe UI" pitchFamily="34" charset="-122"/>
                <a:cs typeface="Segoe UI" pitchFamily="34" charset="-120"/>
              </a:rPr>
              <a:t>It validates and confirms but sends nothing. A visitor’s enquiry is currently discarded.</a:t>
            </a:r>
            <a:endParaRPr lang="en-US" sz="800" dirty="0"/>
          </a:p>
        </p:txBody>
      </p:sp>
      <p:sp>
        <p:nvSpPr>
          <p:cNvPr id="14" name="Shape 12"/>
          <p:cNvSpPr/>
          <p:nvPr/>
        </p:nvSpPr>
        <p:spPr>
          <a:xfrm>
            <a:off x="4572000" y="1719072"/>
            <a:ext cx="3840480" cy="768096"/>
          </a:xfrm>
          <a:prstGeom prst="roundRect">
            <a:avLst>
              <a:gd name="adj" fmla="val 4762"/>
            </a:avLst>
          </a:prstGeom>
          <a:solidFill>
            <a:srgbClr val="FFFFFF"/>
          </a:solidFill>
          <a:ln w="12700">
            <a:solidFill>
              <a:srgbClr val="E4E1DB"/>
            </a:solidFill>
            <a:prstDash val="solid"/>
          </a:ln>
        </p:spPr>
      </p:sp>
      <p:sp>
        <p:nvSpPr>
          <p:cNvPr id="15" name="Shape 13"/>
          <p:cNvSpPr/>
          <p:nvPr/>
        </p:nvSpPr>
        <p:spPr>
          <a:xfrm>
            <a:off x="4572000" y="1719072"/>
            <a:ext cx="50292" cy="768096"/>
          </a:xfrm>
          <a:prstGeom prst="rect">
            <a:avLst/>
          </a:prstGeom>
          <a:solidFill>
            <a:srgbClr val="B4894A"/>
          </a:solidFill>
          <a:ln/>
        </p:spPr>
      </p:sp>
      <p:sp>
        <p:nvSpPr>
          <p:cNvPr id="16" name="Text 14"/>
          <p:cNvSpPr/>
          <p:nvPr/>
        </p:nvSpPr>
        <p:spPr>
          <a:xfrm>
            <a:off x="4754880" y="1828800"/>
            <a:ext cx="384048" cy="256032"/>
          </a:xfrm>
          <a:prstGeom prst="rect">
            <a:avLst/>
          </a:prstGeom>
          <a:noFill/>
          <a:ln/>
        </p:spPr>
        <p:txBody>
          <a:bodyPr wrap="square" rtlCol="0" anchor="ctr"/>
          <a:lstStyle/>
          <a:p>
            <a:pPr indent="0" marL="0">
              <a:buNone/>
            </a:pPr>
            <a:r>
              <a:rPr lang="en-US" sz="1000" b="1" dirty="0">
                <a:solidFill>
                  <a:srgbClr val="B4894A"/>
                </a:solidFill>
                <a:latin typeface="Consolas" pitchFamily="34" charset="0"/>
                <a:ea typeface="Consolas" pitchFamily="34" charset="-122"/>
                <a:cs typeface="Consolas" pitchFamily="34" charset="-120"/>
              </a:rPr>
              <a:t>02</a:t>
            </a:r>
            <a:endParaRPr lang="en-US" sz="1000" dirty="0"/>
          </a:p>
        </p:txBody>
      </p:sp>
      <p:sp>
        <p:nvSpPr>
          <p:cNvPr id="17" name="Text 15"/>
          <p:cNvSpPr/>
          <p:nvPr/>
        </p:nvSpPr>
        <p:spPr>
          <a:xfrm>
            <a:off x="5138928" y="1819656"/>
            <a:ext cx="3108960" cy="237744"/>
          </a:xfrm>
          <a:prstGeom prst="rect">
            <a:avLst/>
          </a:prstGeom>
          <a:noFill/>
          <a:ln/>
        </p:spPr>
        <p:txBody>
          <a:bodyPr wrap="square" rtlCol="0" anchor="ctr"/>
          <a:lstStyle/>
          <a:p>
            <a:pPr indent="0" marL="0">
              <a:buNone/>
            </a:pPr>
            <a:r>
              <a:rPr lang="en-US" sz="1050" b="1" dirty="0">
                <a:solidFill>
                  <a:srgbClr val="12151C"/>
                </a:solidFill>
                <a:latin typeface="Segoe UI" pitchFamily="34" charset="0"/>
                <a:ea typeface="Segoe UI" pitchFamily="34" charset="-122"/>
                <a:cs typeface="Segoe UI" pitchFamily="34" charset="-120"/>
              </a:rPr>
              <a:t>Replace sample content</a:t>
            </a:r>
            <a:endParaRPr lang="en-US" sz="1050" dirty="0"/>
          </a:p>
        </p:txBody>
      </p:sp>
      <p:sp>
        <p:nvSpPr>
          <p:cNvPr id="18" name="Text 16"/>
          <p:cNvSpPr/>
          <p:nvPr/>
        </p:nvSpPr>
        <p:spPr>
          <a:xfrm>
            <a:off x="5138928" y="2057400"/>
            <a:ext cx="3108960" cy="384048"/>
          </a:xfrm>
          <a:prstGeom prst="rect">
            <a:avLst/>
          </a:prstGeom>
          <a:noFill/>
          <a:ln/>
        </p:spPr>
        <p:txBody>
          <a:bodyPr wrap="square" rtlCol="0" anchor="ctr"/>
          <a:lstStyle/>
          <a:p>
            <a:pPr indent="0" marL="0">
              <a:lnSpc>
                <a:spcPct val="110000"/>
              </a:lnSpc>
              <a:buNone/>
            </a:pPr>
            <a:r>
              <a:rPr lang="en-US" sz="800" dirty="0">
                <a:solidFill>
                  <a:srgbClr val="5B6472"/>
                </a:solidFill>
                <a:latin typeface="Segoe UI" pitchFamily="34" charset="0"/>
                <a:ea typeface="Segoe UI" pitchFamily="34" charset="-122"/>
                <a:cs typeface="Segoe UI" pitchFamily="34" charset="-120"/>
              </a:rPr>
              <a:t>Testimonials, customer names, vacancies, releases and the status page are all invented.</a:t>
            </a:r>
            <a:endParaRPr lang="en-US" sz="800" dirty="0"/>
          </a:p>
        </p:txBody>
      </p:sp>
      <p:sp>
        <p:nvSpPr>
          <p:cNvPr id="19" name="Shape 17"/>
          <p:cNvSpPr/>
          <p:nvPr/>
        </p:nvSpPr>
        <p:spPr>
          <a:xfrm>
            <a:off x="566928" y="2569464"/>
            <a:ext cx="3840480" cy="768096"/>
          </a:xfrm>
          <a:prstGeom prst="roundRect">
            <a:avLst>
              <a:gd name="adj" fmla="val 4762"/>
            </a:avLst>
          </a:prstGeom>
          <a:solidFill>
            <a:srgbClr val="FFFFFF"/>
          </a:solidFill>
          <a:ln w="12700">
            <a:solidFill>
              <a:srgbClr val="E4E1DB"/>
            </a:solidFill>
            <a:prstDash val="solid"/>
          </a:ln>
        </p:spPr>
      </p:sp>
      <p:sp>
        <p:nvSpPr>
          <p:cNvPr id="20" name="Shape 18"/>
          <p:cNvSpPr/>
          <p:nvPr/>
        </p:nvSpPr>
        <p:spPr>
          <a:xfrm>
            <a:off x="566928" y="2569464"/>
            <a:ext cx="50292" cy="768096"/>
          </a:xfrm>
          <a:prstGeom prst="rect">
            <a:avLst/>
          </a:prstGeom>
          <a:solidFill>
            <a:srgbClr val="B4894A"/>
          </a:solidFill>
          <a:ln/>
        </p:spPr>
      </p:sp>
      <p:sp>
        <p:nvSpPr>
          <p:cNvPr id="21" name="Text 19"/>
          <p:cNvSpPr/>
          <p:nvPr/>
        </p:nvSpPr>
        <p:spPr>
          <a:xfrm>
            <a:off x="749808" y="2679192"/>
            <a:ext cx="384048" cy="256032"/>
          </a:xfrm>
          <a:prstGeom prst="rect">
            <a:avLst/>
          </a:prstGeom>
          <a:noFill/>
          <a:ln/>
        </p:spPr>
        <p:txBody>
          <a:bodyPr wrap="square" rtlCol="0" anchor="ctr"/>
          <a:lstStyle/>
          <a:p>
            <a:pPr indent="0" marL="0">
              <a:buNone/>
            </a:pPr>
            <a:r>
              <a:rPr lang="en-US" sz="1000" b="1" dirty="0">
                <a:solidFill>
                  <a:srgbClr val="B4894A"/>
                </a:solidFill>
                <a:latin typeface="Consolas" pitchFamily="34" charset="0"/>
                <a:ea typeface="Consolas" pitchFamily="34" charset="-122"/>
                <a:cs typeface="Consolas" pitchFamily="34" charset="-120"/>
              </a:rPr>
              <a:t>03</a:t>
            </a:r>
            <a:endParaRPr lang="en-US" sz="1000" dirty="0"/>
          </a:p>
        </p:txBody>
      </p:sp>
      <p:sp>
        <p:nvSpPr>
          <p:cNvPr id="22" name="Text 20"/>
          <p:cNvSpPr/>
          <p:nvPr/>
        </p:nvSpPr>
        <p:spPr>
          <a:xfrm>
            <a:off x="1133856" y="2670048"/>
            <a:ext cx="3108960" cy="237744"/>
          </a:xfrm>
          <a:prstGeom prst="rect">
            <a:avLst/>
          </a:prstGeom>
          <a:noFill/>
          <a:ln/>
        </p:spPr>
        <p:txBody>
          <a:bodyPr wrap="square" rtlCol="0" anchor="ctr"/>
          <a:lstStyle/>
          <a:p>
            <a:pPr indent="0" marL="0">
              <a:buNone/>
            </a:pPr>
            <a:r>
              <a:rPr lang="en-US" sz="1050" b="1" dirty="0">
                <a:solidFill>
                  <a:srgbClr val="12151C"/>
                </a:solidFill>
                <a:latin typeface="Segoe UI" pitchFamily="34" charset="0"/>
                <a:ea typeface="Segoe UI" pitchFamily="34" charset="-122"/>
                <a:cs typeface="Segoe UI" pitchFamily="34" charset="-120"/>
              </a:rPr>
              <a:t>Swap in the real brand mark</a:t>
            </a:r>
            <a:endParaRPr lang="en-US" sz="1050" dirty="0"/>
          </a:p>
        </p:txBody>
      </p:sp>
      <p:sp>
        <p:nvSpPr>
          <p:cNvPr id="23" name="Text 21"/>
          <p:cNvSpPr/>
          <p:nvPr/>
        </p:nvSpPr>
        <p:spPr>
          <a:xfrm>
            <a:off x="1133856" y="2907792"/>
            <a:ext cx="3108960" cy="384048"/>
          </a:xfrm>
          <a:prstGeom prst="rect">
            <a:avLst/>
          </a:prstGeom>
          <a:noFill/>
          <a:ln/>
        </p:spPr>
        <p:txBody>
          <a:bodyPr wrap="square" rtlCol="0" anchor="ctr"/>
          <a:lstStyle/>
          <a:p>
            <a:pPr indent="0" marL="0">
              <a:lnSpc>
                <a:spcPct val="110000"/>
              </a:lnSpc>
              <a:buNone/>
            </a:pPr>
            <a:r>
              <a:rPr lang="en-US" sz="800" dirty="0">
                <a:solidFill>
                  <a:srgbClr val="5B6472"/>
                </a:solidFill>
                <a:latin typeface="Segoe UI" pitchFamily="34" charset="0"/>
                <a:ea typeface="Segoe UI" pitchFamily="34" charset="-122"/>
                <a:cs typeface="Segoe UI" pitchFamily="34" charset="-120"/>
              </a:rPr>
              <a:t>The logo, favicon and glyph are hand-drawn placeholders.</a:t>
            </a:r>
            <a:endParaRPr lang="en-US" sz="800" dirty="0"/>
          </a:p>
        </p:txBody>
      </p:sp>
      <p:sp>
        <p:nvSpPr>
          <p:cNvPr id="24" name="Shape 22"/>
          <p:cNvSpPr/>
          <p:nvPr/>
        </p:nvSpPr>
        <p:spPr>
          <a:xfrm>
            <a:off x="4572000" y="2569464"/>
            <a:ext cx="3840480" cy="768096"/>
          </a:xfrm>
          <a:prstGeom prst="roundRect">
            <a:avLst>
              <a:gd name="adj" fmla="val 4762"/>
            </a:avLst>
          </a:prstGeom>
          <a:solidFill>
            <a:srgbClr val="FFFFFF"/>
          </a:solidFill>
          <a:ln w="12700">
            <a:solidFill>
              <a:srgbClr val="E4E1DB"/>
            </a:solidFill>
            <a:prstDash val="solid"/>
          </a:ln>
        </p:spPr>
      </p:sp>
      <p:sp>
        <p:nvSpPr>
          <p:cNvPr id="25" name="Shape 23"/>
          <p:cNvSpPr/>
          <p:nvPr/>
        </p:nvSpPr>
        <p:spPr>
          <a:xfrm>
            <a:off x="4572000" y="2569464"/>
            <a:ext cx="50292" cy="768096"/>
          </a:xfrm>
          <a:prstGeom prst="rect">
            <a:avLst/>
          </a:prstGeom>
          <a:solidFill>
            <a:srgbClr val="B4894A"/>
          </a:solidFill>
          <a:ln/>
        </p:spPr>
      </p:sp>
      <p:sp>
        <p:nvSpPr>
          <p:cNvPr id="26" name="Text 24"/>
          <p:cNvSpPr/>
          <p:nvPr/>
        </p:nvSpPr>
        <p:spPr>
          <a:xfrm>
            <a:off x="4754880" y="2679192"/>
            <a:ext cx="384048" cy="256032"/>
          </a:xfrm>
          <a:prstGeom prst="rect">
            <a:avLst/>
          </a:prstGeom>
          <a:noFill/>
          <a:ln/>
        </p:spPr>
        <p:txBody>
          <a:bodyPr wrap="square" rtlCol="0" anchor="ctr"/>
          <a:lstStyle/>
          <a:p>
            <a:pPr indent="0" marL="0">
              <a:buNone/>
            </a:pPr>
            <a:r>
              <a:rPr lang="en-US" sz="1000" b="1" dirty="0">
                <a:solidFill>
                  <a:srgbClr val="B4894A"/>
                </a:solidFill>
                <a:latin typeface="Consolas" pitchFamily="34" charset="0"/>
                <a:ea typeface="Consolas" pitchFamily="34" charset="-122"/>
                <a:cs typeface="Consolas" pitchFamily="34" charset="-120"/>
              </a:rPr>
              <a:t>04</a:t>
            </a:r>
            <a:endParaRPr lang="en-US" sz="1000" dirty="0"/>
          </a:p>
        </p:txBody>
      </p:sp>
      <p:sp>
        <p:nvSpPr>
          <p:cNvPr id="27" name="Text 25"/>
          <p:cNvSpPr/>
          <p:nvPr/>
        </p:nvSpPr>
        <p:spPr>
          <a:xfrm>
            <a:off x="5138928" y="2670048"/>
            <a:ext cx="3108960" cy="237744"/>
          </a:xfrm>
          <a:prstGeom prst="rect">
            <a:avLst/>
          </a:prstGeom>
          <a:noFill/>
          <a:ln/>
        </p:spPr>
        <p:txBody>
          <a:bodyPr wrap="square" rtlCol="0" anchor="ctr"/>
          <a:lstStyle/>
          <a:p>
            <a:pPr indent="0" marL="0">
              <a:buNone/>
            </a:pPr>
            <a:r>
              <a:rPr lang="en-US" sz="1050" b="1" dirty="0">
                <a:solidFill>
                  <a:srgbClr val="12151C"/>
                </a:solidFill>
                <a:latin typeface="Segoe UI" pitchFamily="34" charset="0"/>
                <a:ea typeface="Segoe UI" pitchFamily="34" charset="-122"/>
                <a:cs typeface="Segoe UI" pitchFamily="34" charset="-120"/>
              </a:rPr>
              <a:t>Have the legal pages reviewed</a:t>
            </a:r>
            <a:endParaRPr lang="en-US" sz="1050" dirty="0"/>
          </a:p>
        </p:txBody>
      </p:sp>
      <p:sp>
        <p:nvSpPr>
          <p:cNvPr id="28" name="Text 26"/>
          <p:cNvSpPr/>
          <p:nvPr/>
        </p:nvSpPr>
        <p:spPr>
          <a:xfrm>
            <a:off x="5138928" y="2907792"/>
            <a:ext cx="3108960" cy="384048"/>
          </a:xfrm>
          <a:prstGeom prst="rect">
            <a:avLst/>
          </a:prstGeom>
          <a:noFill/>
          <a:ln/>
        </p:spPr>
        <p:txBody>
          <a:bodyPr wrap="square" rtlCol="0" anchor="ctr"/>
          <a:lstStyle/>
          <a:p>
            <a:pPr indent="0" marL="0">
              <a:lnSpc>
                <a:spcPct val="110000"/>
              </a:lnSpc>
              <a:buNone/>
            </a:pPr>
            <a:r>
              <a:rPr lang="en-US" sz="800" dirty="0">
                <a:solidFill>
                  <a:srgbClr val="5B6472"/>
                </a:solidFill>
                <a:latin typeface="Segoe UI" pitchFamily="34" charset="0"/>
                <a:ea typeface="Segoe UI" pitchFamily="34" charset="-122"/>
                <a:cs typeface="Segoe UI" pitchFamily="34" charset="-120"/>
              </a:rPr>
              <a:t>Privacy, Terms, Cookie Policy and the DPA are realistic drafts, not legal advice.</a:t>
            </a:r>
            <a:endParaRPr lang="en-US" sz="800" dirty="0"/>
          </a:p>
        </p:txBody>
      </p:sp>
      <p:sp>
        <p:nvSpPr>
          <p:cNvPr id="29" name="Shape 27"/>
          <p:cNvSpPr/>
          <p:nvPr/>
        </p:nvSpPr>
        <p:spPr>
          <a:xfrm>
            <a:off x="566928" y="3419856"/>
            <a:ext cx="3840480" cy="768096"/>
          </a:xfrm>
          <a:prstGeom prst="roundRect">
            <a:avLst>
              <a:gd name="adj" fmla="val 4762"/>
            </a:avLst>
          </a:prstGeom>
          <a:solidFill>
            <a:srgbClr val="FFFFFF"/>
          </a:solidFill>
          <a:ln w="12700">
            <a:solidFill>
              <a:srgbClr val="E4E1DB"/>
            </a:solidFill>
            <a:prstDash val="solid"/>
          </a:ln>
        </p:spPr>
      </p:sp>
      <p:sp>
        <p:nvSpPr>
          <p:cNvPr id="30" name="Shape 28"/>
          <p:cNvSpPr/>
          <p:nvPr/>
        </p:nvSpPr>
        <p:spPr>
          <a:xfrm>
            <a:off x="566928" y="3419856"/>
            <a:ext cx="50292" cy="768096"/>
          </a:xfrm>
          <a:prstGeom prst="rect">
            <a:avLst/>
          </a:prstGeom>
          <a:solidFill>
            <a:srgbClr val="14B8A6"/>
          </a:solidFill>
          <a:ln/>
        </p:spPr>
      </p:sp>
      <p:sp>
        <p:nvSpPr>
          <p:cNvPr id="31" name="Text 29"/>
          <p:cNvSpPr/>
          <p:nvPr/>
        </p:nvSpPr>
        <p:spPr>
          <a:xfrm>
            <a:off x="749808" y="3529584"/>
            <a:ext cx="384048" cy="256032"/>
          </a:xfrm>
          <a:prstGeom prst="rect">
            <a:avLst/>
          </a:prstGeom>
          <a:noFill/>
          <a:ln/>
        </p:spPr>
        <p:txBody>
          <a:bodyPr wrap="square" rtlCol="0" anchor="ctr"/>
          <a:lstStyle/>
          <a:p>
            <a:pPr indent="0" marL="0">
              <a:buNone/>
            </a:pPr>
            <a:r>
              <a:rPr lang="en-US" sz="1000" b="1" dirty="0">
                <a:solidFill>
                  <a:srgbClr val="14B8A6"/>
                </a:solidFill>
                <a:latin typeface="Consolas" pitchFamily="34" charset="0"/>
                <a:ea typeface="Consolas" pitchFamily="34" charset="-122"/>
                <a:cs typeface="Consolas" pitchFamily="34" charset="-120"/>
              </a:rPr>
              <a:t>05</a:t>
            </a:r>
            <a:endParaRPr lang="en-US" sz="1000" dirty="0"/>
          </a:p>
        </p:txBody>
      </p:sp>
      <p:sp>
        <p:nvSpPr>
          <p:cNvPr id="32" name="Text 30"/>
          <p:cNvSpPr/>
          <p:nvPr/>
        </p:nvSpPr>
        <p:spPr>
          <a:xfrm>
            <a:off x="1133856" y="3520440"/>
            <a:ext cx="3108960" cy="237744"/>
          </a:xfrm>
          <a:prstGeom prst="rect">
            <a:avLst/>
          </a:prstGeom>
          <a:noFill/>
          <a:ln/>
        </p:spPr>
        <p:txBody>
          <a:bodyPr wrap="square" rtlCol="0" anchor="ctr"/>
          <a:lstStyle/>
          <a:p>
            <a:pPr indent="0" marL="0">
              <a:buNone/>
            </a:pPr>
            <a:r>
              <a:rPr lang="en-US" sz="1050" b="1" dirty="0">
                <a:solidFill>
                  <a:srgbClr val="12151C"/>
                </a:solidFill>
                <a:latin typeface="Segoe UI" pitchFamily="34" charset="0"/>
                <a:ea typeface="Segoe UI" pitchFamily="34" charset="-122"/>
                <a:cs typeface="Segoe UI" pitchFamily="34" charset="-120"/>
              </a:rPr>
              <a:t>Set the real domain and details</a:t>
            </a:r>
            <a:endParaRPr lang="en-US" sz="1050" dirty="0"/>
          </a:p>
        </p:txBody>
      </p:sp>
      <p:sp>
        <p:nvSpPr>
          <p:cNvPr id="33" name="Text 31"/>
          <p:cNvSpPr/>
          <p:nvPr/>
        </p:nvSpPr>
        <p:spPr>
          <a:xfrm>
            <a:off x="1133856" y="3758184"/>
            <a:ext cx="3108960" cy="384048"/>
          </a:xfrm>
          <a:prstGeom prst="rect">
            <a:avLst/>
          </a:prstGeom>
          <a:noFill/>
          <a:ln/>
        </p:spPr>
        <p:txBody>
          <a:bodyPr wrap="square" rtlCol="0" anchor="ctr"/>
          <a:lstStyle/>
          <a:p>
            <a:pPr indent="0" marL="0">
              <a:lnSpc>
                <a:spcPct val="110000"/>
              </a:lnSpc>
              <a:buNone/>
            </a:pPr>
            <a:r>
              <a:rPr lang="en-US" sz="800" dirty="0">
                <a:solidFill>
                  <a:srgbClr val="5B6472"/>
                </a:solidFill>
                <a:latin typeface="Segoe UI" pitchFamily="34" charset="0"/>
                <a:ea typeface="Segoe UI" pitchFamily="34" charset="-122"/>
                <a:cs typeface="Segoe UI" pitchFamily="34" charset="-120"/>
              </a:rPr>
              <a:t>axonite.io, the phone number and support hours are placeholders.</a:t>
            </a:r>
            <a:endParaRPr lang="en-US" sz="800" dirty="0"/>
          </a:p>
        </p:txBody>
      </p:sp>
      <p:sp>
        <p:nvSpPr>
          <p:cNvPr id="34" name="Shape 32"/>
          <p:cNvSpPr/>
          <p:nvPr/>
        </p:nvSpPr>
        <p:spPr>
          <a:xfrm>
            <a:off x="4572000" y="3419856"/>
            <a:ext cx="3840480" cy="768096"/>
          </a:xfrm>
          <a:prstGeom prst="roundRect">
            <a:avLst>
              <a:gd name="adj" fmla="val 4762"/>
            </a:avLst>
          </a:prstGeom>
          <a:solidFill>
            <a:srgbClr val="FFFFFF"/>
          </a:solidFill>
          <a:ln w="12700">
            <a:solidFill>
              <a:srgbClr val="E4E1DB"/>
            </a:solidFill>
            <a:prstDash val="solid"/>
          </a:ln>
        </p:spPr>
      </p:sp>
      <p:sp>
        <p:nvSpPr>
          <p:cNvPr id="35" name="Shape 33"/>
          <p:cNvSpPr/>
          <p:nvPr/>
        </p:nvSpPr>
        <p:spPr>
          <a:xfrm>
            <a:off x="4572000" y="3419856"/>
            <a:ext cx="50292" cy="768096"/>
          </a:xfrm>
          <a:prstGeom prst="rect">
            <a:avLst/>
          </a:prstGeom>
          <a:solidFill>
            <a:srgbClr val="14B8A6"/>
          </a:solidFill>
          <a:ln/>
        </p:spPr>
      </p:sp>
      <p:sp>
        <p:nvSpPr>
          <p:cNvPr id="36" name="Text 34"/>
          <p:cNvSpPr/>
          <p:nvPr/>
        </p:nvSpPr>
        <p:spPr>
          <a:xfrm>
            <a:off x="4754880" y="3529584"/>
            <a:ext cx="384048" cy="256032"/>
          </a:xfrm>
          <a:prstGeom prst="rect">
            <a:avLst/>
          </a:prstGeom>
          <a:noFill/>
          <a:ln/>
        </p:spPr>
        <p:txBody>
          <a:bodyPr wrap="square" rtlCol="0" anchor="ctr"/>
          <a:lstStyle/>
          <a:p>
            <a:pPr indent="0" marL="0">
              <a:buNone/>
            </a:pPr>
            <a:r>
              <a:rPr lang="en-US" sz="1000" b="1" dirty="0">
                <a:solidFill>
                  <a:srgbClr val="14B8A6"/>
                </a:solidFill>
                <a:latin typeface="Consolas" pitchFamily="34" charset="0"/>
                <a:ea typeface="Consolas" pitchFamily="34" charset="-122"/>
                <a:cs typeface="Consolas" pitchFamily="34" charset="-120"/>
              </a:rPr>
              <a:t>06</a:t>
            </a:r>
            <a:endParaRPr lang="en-US" sz="1000" dirty="0"/>
          </a:p>
        </p:txBody>
      </p:sp>
      <p:sp>
        <p:nvSpPr>
          <p:cNvPr id="37" name="Text 35"/>
          <p:cNvSpPr/>
          <p:nvPr/>
        </p:nvSpPr>
        <p:spPr>
          <a:xfrm>
            <a:off x="5138928" y="3520440"/>
            <a:ext cx="3108960" cy="237744"/>
          </a:xfrm>
          <a:prstGeom prst="rect">
            <a:avLst/>
          </a:prstGeom>
          <a:noFill/>
          <a:ln/>
        </p:spPr>
        <p:txBody>
          <a:bodyPr wrap="square" rtlCol="0" anchor="ctr"/>
          <a:lstStyle/>
          <a:p>
            <a:pPr indent="0" marL="0">
              <a:buNone/>
            </a:pPr>
            <a:r>
              <a:rPr lang="en-US" sz="1050" b="1" dirty="0">
                <a:solidFill>
                  <a:srgbClr val="12151C"/>
                </a:solidFill>
                <a:latin typeface="Segoe UI" pitchFamily="34" charset="0"/>
                <a:ea typeface="Segoe UI" pitchFamily="34" charset="-122"/>
                <a:cs typeface="Segoe UI" pitchFamily="34" charset="-120"/>
              </a:rPr>
              <a:t>Add robots.txt and social tags</a:t>
            </a:r>
            <a:endParaRPr lang="en-US" sz="1050" dirty="0"/>
          </a:p>
        </p:txBody>
      </p:sp>
      <p:sp>
        <p:nvSpPr>
          <p:cNvPr id="38" name="Text 36"/>
          <p:cNvSpPr/>
          <p:nvPr/>
        </p:nvSpPr>
        <p:spPr>
          <a:xfrm>
            <a:off x="5138928" y="3758184"/>
            <a:ext cx="3108960" cy="384048"/>
          </a:xfrm>
          <a:prstGeom prst="rect">
            <a:avLst/>
          </a:prstGeom>
          <a:noFill/>
          <a:ln/>
        </p:spPr>
        <p:txBody>
          <a:bodyPr wrap="square" rtlCol="0" anchor="ctr"/>
          <a:lstStyle/>
          <a:p>
            <a:pPr indent="0" marL="0">
              <a:lnSpc>
                <a:spcPct val="110000"/>
              </a:lnSpc>
              <a:buNone/>
            </a:pPr>
            <a:r>
              <a:rPr lang="en-US" sz="800" dirty="0">
                <a:solidFill>
                  <a:srgbClr val="5B6472"/>
                </a:solidFill>
                <a:latin typeface="Segoe UI" pitchFamily="34" charset="0"/>
                <a:ea typeface="Segoe UI" pitchFamily="34" charset="-122"/>
                <a:cs typeface="Segoe UI" pitchFamily="34" charset="-120"/>
              </a:rPr>
              <a:t>No sitemap and no og: preview tags yet. Analytics is optional - there is no tracking today.</a:t>
            </a:r>
            <a:endParaRPr lang="en-US" sz="800" dirty="0"/>
          </a:p>
        </p:txBody>
      </p:sp>
      <p:sp>
        <p:nvSpPr>
          <p:cNvPr id="39" name="Shape 37"/>
          <p:cNvSpPr/>
          <p:nvPr/>
        </p:nvSpPr>
        <p:spPr>
          <a:xfrm>
            <a:off x="566928" y="4261104"/>
            <a:ext cx="8010144" cy="347472"/>
          </a:xfrm>
          <a:prstGeom prst="roundRect">
            <a:avLst>
              <a:gd name="adj" fmla="val 10526"/>
            </a:avLst>
          </a:prstGeom>
          <a:solidFill>
            <a:srgbClr val="E7F3F1"/>
          </a:solidFill>
          <a:ln w="10160">
            <a:solidFill>
              <a:srgbClr val="0F766E"/>
            </a:solidFill>
            <a:prstDash val="solid"/>
          </a:ln>
        </p:spPr>
      </p:sp>
      <p:sp>
        <p:nvSpPr>
          <p:cNvPr id="40" name="Text 38"/>
          <p:cNvSpPr/>
          <p:nvPr/>
        </p:nvSpPr>
        <p:spPr>
          <a:xfrm>
            <a:off x="768096" y="4261104"/>
            <a:ext cx="7607808" cy="347472"/>
          </a:xfrm>
          <a:prstGeom prst="rect">
            <a:avLst/>
          </a:prstGeom>
          <a:noFill/>
          <a:ln/>
        </p:spPr>
        <p:txBody>
          <a:bodyPr wrap="square" rtlCol="0" anchor="ctr"/>
          <a:lstStyle/>
          <a:p>
            <a:pPr indent="0" marL="0">
              <a:buNone/>
            </a:pPr>
            <a:r>
              <a:rPr lang="en-US" sz="840" b="1" dirty="0">
                <a:solidFill>
                  <a:srgbClr val="12151C"/>
                </a:solidFill>
                <a:latin typeface="Segoe UI" pitchFamily="34" charset="0"/>
                <a:ea typeface="Segoe UI" pitchFamily="34" charset="-122"/>
                <a:cs typeface="Segoe UI" pitchFamily="34" charset="-120"/>
              </a:rPr>
              <a:t>Deployment:  </a:t>
            </a:r>
            <a:pPr indent="0" marL="0">
              <a:buNone/>
            </a:pPr>
            <a:r>
              <a:rPr lang="en-US" sz="840" dirty="0">
                <a:solidFill>
                  <a:srgbClr val="3B4250"/>
                </a:solidFill>
                <a:latin typeface="Segoe UI" pitchFamily="34" charset="0"/>
                <a:ea typeface="Segoe UI" pitchFamily="34" charset="-122"/>
                <a:cs typeface="Segoe UI" pitchFamily="34" charset="-120"/>
              </a:rPr>
              <a:t>dotnet publish -c Release, then host the output anywhere running .NET 10. Behind a load balancer, enable sticky sessions - interactive pages hold a WebSocket.</a:t>
            </a:r>
            <a:endParaRPr lang="en-US" sz="8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Axonite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Polypus website - architecture</dc:title>
  <dc:subject>PptxGenJS Presentation</dc:subject>
  <dc:creator>Axonite</dc:creator>
  <cp:lastModifiedBy>Axonite</cp:lastModifiedBy>
  <cp:revision>1</cp:revision>
  <dcterms:created xsi:type="dcterms:W3CDTF">2026-09-21T13:23:35Z</dcterms:created>
  <dcterms:modified xsi:type="dcterms:W3CDTF">2026-09-21T13:23:35Z</dcterms:modified>
</cp:coreProperties>
</file>